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[00:00 - 01:00]</a:t>
            </a:r>
          </a:p>
          <a:p>
            <a:r>
              <a:t>Bonjour à tous. Je vous présente HealthKicks, une chaussure intelligente d'analyse du mouvement et de sécurité.</a:t>
            </a:r>
          </a:p>
          <a:p/>
          <a:p>
            <a:r>
              <a:t>Contrairement aux montres connectées qui comptent des faux pas à cause des gestes de bras, la chaussure capture la mécanique réelle de la marche et propose un rappel d'inactivité sous la semelle.</a:t>
            </a:r>
          </a:p>
          <a:p/>
          <a:p>
            <a:r>
              <a:t>Elle intègre aussi une détection de chute autonome qui alerte instantanément les proches, sans dépendre du cloud pour la décision d'urgence.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[01:00 - 02:30]</a:t>
            </a:r>
          </a:p>
          <a:p>
            <a:r>
              <a:t>L'architecture sépare clairement les responsabilités :</a:t>
            </a:r>
          </a:p>
          <a:p>
            <a:r>
              <a:t>1. La chaussure (ESP32-S3) traite le signal et réagit localement.</a:t>
            </a:r>
          </a:p>
          <a:p>
            <a:r>
              <a:t>2. Le smartphone sert de passerelle en BLE chiffré et stocke hors-ligne en SQLite.</a:t>
            </a:r>
          </a:p>
          <a:p>
            <a:r>
              <a:t>3. Le Cloud AWS &amp; FastAPI : le mobile s'authentifie via OAuth2 PKCE. FastAPI joue le rôle de STS Token Broker en générant des clés AWS temporaires de 15 minutes restreintes au topic de la chaussure. La communication temps réel est assurée par MQTT WebSockets signé en SigV4.</a:t>
            </a:r>
          </a:p>
          <a:p>
            <a:r>
              <a:t>4. Le tableau de bord web permet de suivre l'activité et d'enregistrer des sessions Studio.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[02:30 - 05:00]</a:t>
            </a:r>
          </a:p>
          <a:p>
            <a:r>
              <a:t>Sur la chaussure, l'ESP32-S3 communique avec l'IMU en I2C à 400 kHz.</a:t>
            </a:r>
          </a:p>
          <a:p>
            <a:r>
              <a:t>L'alignement suit le standard biomécanique ISB : l'axe Z vertical mesure la gravité (+1g statique), X la propulsion et Y la stabilité. Le vibreur haptique est piloté en PWM à 10 kHz pour des alertes discrètes ou franches.</a:t>
            </a:r>
          </a:p>
          <a:p>
            <a:r>
              <a:t>Comme la semelle est hermétique, les mises à jour se font par BLE OTA. Le binaire est vérifié par SHA-256, et un rollback automatique restaure l'ancien firmware si le capteur ne répond pas dans les 15 secondes.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[05:00 - 08:00]</a:t>
            </a:r>
          </a:p>
          <a:p>
            <a:r>
              <a:t>L'IA embarquée traite le signal à 19 Hz sur une fenêtre glissante de 2 secondes.</a:t>
            </a:r>
          </a:p>
          <a:p>
            <a:r>
              <a:t>Au lieu de traiter les signaux bruts qui dépendent de l'orientation exacte du pied, nous extrayons 16 indicateurs canoniques basés sur les magnitudes euclidiennes (invariantes en rotation) et l'énergie du mouvement.</a:t>
            </a:r>
          </a:p>
          <a:p>
            <a:r>
              <a:t>Le modèle champion est un ExtraTrees multiclasse (forêt d'arbres décisionnels avec seuils randomisés), particulièrement résistant au surapprentissage.</a:t>
            </a:r>
          </a:p>
          <a:p>
            <a:r>
              <a:t>Pour éviter les fausses alertes (ex: s'asseoir vivement dans un fauteuil), nous combinons l'IA avec une garde biomécanique : détection de choc &gt; 16.2 m/s² suivie d'une vérification de l'immobilité anormale au sol.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[08:00 - 10:30]</a:t>
            </a:r>
          </a:p>
          <a:p>
            <a:r>
              <a:t>L'entraînement est automatisé par notre script update_edge_model.py :</a:t>
            </a:r>
          </a:p>
          <a:p>
            <a:r>
              <a:t>1. Le mode Studio permet d'enregistrer des sessions réelles à 54 ou 100 Hz, envoyées en BLE burst vers DynamoDB.</a:t>
            </a:r>
          </a:p>
          <a:p>
            <a:r>
              <a:t>2. L'évaluation utilise une validation croisée stratifiée en 5 plis (Stratified 5-Fold) pour répartir équitablement les chutes rares et optimiser le Macro F1-score.</a:t>
            </a:r>
          </a:p>
          <a:p>
            <a:r>
              <a:t>3. Le modèle champion est transpilé en C pur via m2cgen. Il s'exécute en seulement 12 microsecondes sans aucun framework externe.</a:t>
            </a:r>
          </a:p>
          <a:p>
            <a:r>
              <a:t>4. Un Quality Gate bloque la mise à jour si le F1-score est inférieur à 85%, et PlatformIO valide la compilation du firmware.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[10:30 - 12:30]</a:t>
            </a:r>
          </a:p>
          <a:p>
            <a:r>
              <a:t>Pour la podométrie, l'ESP32 possède un compteur monotone physique qui ne connaît pas les jours. Notre application mobile implémente une odométrie différentielle SQLite : elle calcule le delta net de pas, gère les redémarrages de chaussure et ventile les pas heure par heure de manière 100% réelle.</a:t>
            </a:r>
          </a:p>
          <a:p>
            <a:r>
              <a:t>Pour les alertes, le mobile maintient une connexion WebSockets MQTT signée en SigV4 vers AWS IoT Core, ce qui permet d'envoyer l'alerte de chute en quelques dizaines de millisecondes aux proches.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[12:30 - 14:00]</a:t>
            </a:r>
          </a:p>
          <a:p>
            <a:r>
              <a:t>Côté résultats : l'inférence C prend moins de 15 microsecondes avec 0 Ko d'allocation dynamique.</a:t>
            </a:r>
          </a:p>
          <a:p>
            <a:r>
              <a:t>Le modèle atteint un Macro F1-score &gt; 88% et plus de 94% de sensibilité sur les chutes.</a:t>
            </a:r>
          </a:p>
          <a:p>
            <a:r>
              <a:t>Sur l'application mobile, l'utilisateur peut personnaliser la sensibilité du seuil d'impact ainsi que l'intervalle de rappel d'inactivité.</a:t>
            </a:r>
          </a:p>
          <a:p>
            <a:r>
              <a:t>Le projet est fiabilisé par plus de 530 tests automatisés au vert sur le mobile et le backend.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[14:00 - 15:00]</a:t>
            </a:r>
          </a:p>
          <a:p>
            <a:r>
              <a:t>En conclusion, HealthKicks prouve qu'on peut concilier l'Intelligence Artificielle et la frugalité IoT dans un objet du quotidien.</a:t>
            </a:r>
          </a:p>
          <a:p/>
          <a:p>
            <a:r>
              <a:t>Nous qualifions le mouvement à la source pour encourager le sport, prévenir la sédentarité et alerter l'entourage en cas d'accident.</a:t>
            </a:r>
          </a:p>
          <a:p/>
          <a:p>
            <a:r>
              <a:t>Je vous remercie pour votre attention et je réponds avec grand plaisir à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05840"/>
            <a:ext cx="137160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34440"/>
            <a:ext cx="10698480" cy="1645920"/>
          </a:xfrm>
          <a:prstGeom prst="rect">
            <a:avLst/>
          </a:prstGeom>
          <a:noFill/>
        </p:spPr>
        <p:txBody>
          <a:bodyPr wrap="square">
            <a:spAutoFit/>
          </a:bodyPr>
          <a:lstStyle/>
          <a:p>
            <a:pPr>
              <a:defRPr sz="4200" b="1">
                <a:solidFill>
                  <a:srgbClr val="F8FAFC"/>
                </a:solidFill>
                <a:latin typeface="Segoe UI"/>
              </a:defRPr>
            </a:pPr>
            <a:r>
              <a:t>HealthKicks Ecosystem</a:t>
            </a:r>
          </a:p>
          <a:p>
            <a:pPr>
              <a:spcBef>
                <a:spcPts val="800"/>
              </a:spcBef>
              <a:defRPr sz="1900">
                <a:solidFill>
                  <a:srgbClr val="14B8A6"/>
                </a:solidFill>
                <a:latin typeface="Segoe UI"/>
              </a:defRPr>
            </a:pPr>
            <a:r>
              <a:t>Chaussure Intelligente : Podométrie Haute Précision &amp; Détection de Chute Autonome</a:t>
            </a:r>
          </a:p>
        </p:txBody>
      </p:sp>
      <p:sp>
        <p:nvSpPr>
          <p:cNvPr id="5" name="Rounded Rectangle 4"/>
          <p:cNvSpPr/>
          <p:nvPr/>
        </p:nvSpPr>
        <p:spPr>
          <a:xfrm>
            <a:off x="731520" y="3108960"/>
            <a:ext cx="3401568" cy="310896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spcAft>
                <a:spcPts val="1200"/>
              </a:spcAft>
              <a:defRPr sz="1400" b="1">
                <a:solidFill>
                  <a:srgbClr val="0D9488"/>
                </a:solidFill>
                <a:latin typeface="Segoe UI"/>
              </a:defRPr>
            </a:pPr>
            <a:r>
              <a:t>🏃  ACTIVITÉ &amp; SPORT</a:t>
            </a:r>
          </a:p>
          <a:p>
            <a:pPr>
              <a:spcBef>
                <a:spcPts val="800"/>
              </a:spcBef>
              <a:defRPr sz="1200">
                <a:solidFill>
                  <a:srgbClr val="F8FAFC"/>
                </a:solidFill>
                <a:latin typeface="Segoe UI"/>
              </a:defRPr>
            </a:pPr>
            <a:r>
              <a:t>• Podométrie podologique multi-allures (marche, course, escaliers).</a:t>
            </a:r>
          </a:p>
          <a:p>
            <a:pPr>
              <a:spcBef>
                <a:spcPts val="800"/>
              </a:spcBef>
              <a:defRPr sz="1200">
                <a:solidFill>
                  <a:srgbClr val="F8FAFC"/>
                </a:solidFill>
                <a:latin typeface="Segoe UI"/>
              </a:defRPr>
            </a:pPr>
            <a:r>
              <a:t>• Rappel d'inactivité haptique anti-sédentarité sous la semelle.</a:t>
            </a:r>
          </a:p>
          <a:p>
            <a:pPr>
              <a:spcBef>
                <a:spcPts val="800"/>
              </a:spcBef>
              <a:defRPr sz="1200">
                <a:solidFill>
                  <a:srgbClr val="F8FAFC"/>
                </a:solidFill>
                <a:latin typeface="Segoe UI"/>
              </a:defRPr>
            </a:pPr>
            <a:r>
              <a:t>• Zéro faux pas : insensibilité aux mouvements parasites des bras.</a:t>
            </a:r>
          </a:p>
        </p:txBody>
      </p:sp>
      <p:sp>
        <p:nvSpPr>
          <p:cNvPr id="6" name="Rounded Rectangle 5"/>
          <p:cNvSpPr/>
          <p:nvPr/>
        </p:nvSpPr>
        <p:spPr>
          <a:xfrm>
            <a:off x="4389120" y="3108960"/>
            <a:ext cx="3401568" cy="3108960"/>
          </a:xfrm>
          <a:prstGeom prst="roundRect">
            <a:avLst/>
          </a:prstGeom>
          <a:solidFill>
            <a:srgbClr val="1E293B"/>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spcAft>
                <a:spcPts val="1200"/>
              </a:spcAft>
              <a:defRPr sz="1400" b="1">
                <a:solidFill>
                  <a:srgbClr val="D97706"/>
                </a:solidFill>
                <a:latin typeface="Segoe UI"/>
              </a:defRPr>
            </a:pPr>
            <a:r>
              <a:t>🛡️  SÉCURITÉ &amp; PROCHES</a:t>
            </a:r>
          </a:p>
          <a:p>
            <a:pPr>
              <a:spcBef>
                <a:spcPts val="800"/>
              </a:spcBef>
              <a:defRPr sz="1200">
                <a:solidFill>
                  <a:srgbClr val="F8FAFC"/>
                </a:solidFill>
                <a:latin typeface="Segoe UI"/>
              </a:defRPr>
            </a:pPr>
            <a:r>
              <a:t>• Détection de chute autonome à la source (sur la chaussure).</a:t>
            </a:r>
          </a:p>
          <a:p>
            <a:pPr>
              <a:spcBef>
                <a:spcPts val="800"/>
              </a:spcBef>
              <a:defRPr sz="1200">
                <a:solidFill>
                  <a:srgbClr val="F8FAFC"/>
                </a:solidFill>
                <a:latin typeface="Segoe UI"/>
              </a:defRPr>
            </a:pPr>
            <a:r>
              <a:t>• Garde biomécanique anti-fausses alertes (s'asseoir ≠ tomber).</a:t>
            </a:r>
          </a:p>
          <a:p>
            <a:pPr>
              <a:spcBef>
                <a:spcPts val="800"/>
              </a:spcBef>
              <a:defRPr sz="1200">
                <a:solidFill>
                  <a:srgbClr val="F8FAFC"/>
                </a:solidFill>
                <a:latin typeface="Segoe UI"/>
              </a:defRPr>
            </a:pPr>
            <a:r>
              <a:t>• Alerte immédiate envoyée à l'entourage et aux aidants.</a:t>
            </a:r>
          </a:p>
        </p:txBody>
      </p:sp>
      <p:sp>
        <p:nvSpPr>
          <p:cNvPr id="7" name="Rounded Rectangle 6"/>
          <p:cNvSpPr/>
          <p:nvPr/>
        </p:nvSpPr>
        <p:spPr>
          <a:xfrm>
            <a:off x="8046720" y="3108960"/>
            <a:ext cx="3401568" cy="310896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spcAft>
                <a:spcPts val="1200"/>
              </a:spcAft>
              <a:defRPr sz="1400" b="1">
                <a:solidFill>
                  <a:srgbClr val="2563EB"/>
                </a:solidFill>
                <a:latin typeface="Segoe UI"/>
              </a:defRPr>
            </a:pPr>
            <a:r>
              <a:t>⚡  EDGE AI &amp; SOBRIÉTÉ</a:t>
            </a:r>
          </a:p>
          <a:p>
            <a:pPr>
              <a:spcBef>
                <a:spcPts val="800"/>
              </a:spcBef>
              <a:defRPr sz="1200">
                <a:solidFill>
                  <a:srgbClr val="F8FAFC"/>
                </a:solidFill>
                <a:latin typeface="Segoe UI"/>
              </a:defRPr>
            </a:pPr>
            <a:r>
              <a:t>• Intelligence 100% locale sur microcontrôleur ESP32-S3.</a:t>
            </a:r>
          </a:p>
          <a:p>
            <a:pPr>
              <a:spcBef>
                <a:spcPts val="800"/>
              </a:spcBef>
              <a:defRPr sz="1200">
                <a:solidFill>
                  <a:srgbClr val="F8FAFC"/>
                </a:solidFill>
                <a:latin typeface="Segoe UI"/>
              </a:defRPr>
            </a:pPr>
            <a:r>
              <a:t>• Zéro dépendance réseau pour la sécurité critique.</a:t>
            </a:r>
          </a:p>
          <a:p>
            <a:pPr>
              <a:spcBef>
                <a:spcPts val="800"/>
              </a:spcBef>
              <a:defRPr sz="1200">
                <a:solidFill>
                  <a:srgbClr val="F8FAFC"/>
                </a:solidFill>
                <a:latin typeface="Segoe UI"/>
              </a:defRPr>
            </a:pPr>
            <a:r>
              <a:t>• Inférence instantanée en quelques microsecondes.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a:spAutoFit/>
          </a:bodyPr>
          <a:lstStyle/>
          <a:p>
            <a:pPr>
              <a:defRPr sz="1100" b="1">
                <a:solidFill>
                  <a:srgbClr val="0D9488"/>
                </a:solidFill>
                <a:latin typeface="Segoe UI"/>
              </a:defRPr>
            </a:pPr>
            <a:r>
              <a:t>VUE D'ENSEMBLE</a:t>
            </a:r>
          </a:p>
        </p:txBody>
      </p:sp>
      <p:sp>
        <p:nvSpPr>
          <p:cNvPr id="4" name="TextBox 3"/>
          <p:cNvSpPr txBox="1"/>
          <p:nvPr/>
        </p:nvSpPr>
        <p:spPr>
          <a:xfrm>
            <a:off x="731520" y="731520"/>
            <a:ext cx="10698480" cy="640080"/>
          </a:xfrm>
          <a:prstGeom prst="rect">
            <a:avLst/>
          </a:prstGeom>
          <a:noFill/>
        </p:spPr>
        <p:txBody>
          <a:bodyPr wrap="square">
            <a:spAutoFit/>
          </a:bodyPr>
          <a:lstStyle/>
          <a:p>
            <a:pPr>
              <a:defRPr sz="2500" b="1">
                <a:solidFill>
                  <a:srgbClr val="0F172A"/>
                </a:solidFill>
                <a:latin typeface="Segoe UI"/>
              </a:defRPr>
            </a:pPr>
            <a:r>
              <a:t>Architecture Globale : Du Capteur au Cloud</a:t>
            </a:r>
          </a:p>
        </p:txBody>
      </p:sp>
      <p:sp>
        <p:nvSpPr>
          <p:cNvPr id="5" name="Rounded Rectangle 4"/>
          <p:cNvSpPr/>
          <p:nvPr/>
        </p:nvSpPr>
        <p:spPr>
          <a:xfrm>
            <a:off x="731520" y="1463040"/>
            <a:ext cx="2542032" cy="48463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defRPr sz="1400" b="1">
                <a:solidFill>
                  <a:srgbClr val="0D9488"/>
                </a:solidFill>
                <a:latin typeface="Segoe UI"/>
              </a:defRPr>
            </a:pPr>
            <a:r>
              <a:t>1. CHAUSSURE</a:t>
            </a:r>
          </a:p>
          <a:p>
            <a:pPr>
              <a:spcAft>
                <a:spcPts val="1600"/>
              </a:spcAft>
              <a:defRPr sz="1000">
                <a:solidFill>
                  <a:srgbClr val="64748B"/>
                </a:solidFill>
                <a:latin typeface="Segoe UI"/>
              </a:defRPr>
            </a:pPr>
            <a:r>
              <a:t>ESP32-S3 &amp; Capteurs</a:t>
            </a:r>
          </a:p>
          <a:p>
            <a:pPr>
              <a:spcBef>
                <a:spcPts val="800"/>
              </a:spcBef>
              <a:defRPr sz="1150">
                <a:solidFill>
                  <a:srgbClr val="0F172A"/>
                </a:solidFill>
                <a:latin typeface="Segoe UI"/>
              </a:defRPr>
            </a:pPr>
            <a:r>
              <a:t>• Centrale IMU 6-axes MPU-6050</a:t>
            </a:r>
          </a:p>
          <a:p>
            <a:pPr>
              <a:spcBef>
                <a:spcPts val="800"/>
              </a:spcBef>
              <a:defRPr sz="1150">
                <a:solidFill>
                  <a:srgbClr val="0F172A"/>
                </a:solidFill>
                <a:latin typeface="Segoe UI"/>
              </a:defRPr>
            </a:pPr>
            <a:r>
              <a:t>• Inférence Edge AI C++ (&lt; 15 µs)</a:t>
            </a:r>
          </a:p>
          <a:p>
            <a:pPr>
              <a:spcBef>
                <a:spcPts val="800"/>
              </a:spcBef>
              <a:defRPr sz="1150">
                <a:solidFill>
                  <a:srgbClr val="0F172A"/>
                </a:solidFill>
                <a:latin typeface="Segoe UI"/>
              </a:defRPr>
            </a:pPr>
            <a:r>
              <a:t>• Vibreur haptique PWM (10 kHz)</a:t>
            </a:r>
          </a:p>
          <a:p>
            <a:pPr>
              <a:spcBef>
                <a:spcPts val="800"/>
              </a:spcBef>
              <a:defRPr sz="1150">
                <a:solidFill>
                  <a:srgbClr val="0F172A"/>
                </a:solidFill>
                <a:latin typeface="Segoe UI"/>
              </a:defRPr>
            </a:pPr>
            <a:r>
              <a:t>• Serveur BLE GATT sécurisé (LESC)</a:t>
            </a:r>
          </a:p>
        </p:txBody>
      </p:sp>
      <p:sp>
        <p:nvSpPr>
          <p:cNvPr id="6" name="Rounded Rectangle 5"/>
          <p:cNvSpPr/>
          <p:nvPr/>
        </p:nvSpPr>
        <p:spPr>
          <a:xfrm>
            <a:off x="3429000" y="1463040"/>
            <a:ext cx="2542032" cy="48463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defRPr sz="1400" b="1">
                <a:solidFill>
                  <a:srgbClr val="2563EB"/>
                </a:solidFill>
                <a:latin typeface="Segoe UI"/>
              </a:defRPr>
            </a:pPr>
            <a:r>
              <a:t>2. MOBILE</a:t>
            </a:r>
          </a:p>
          <a:p>
            <a:pPr>
              <a:spcAft>
                <a:spcPts val="1600"/>
              </a:spcAft>
              <a:defRPr sz="1000">
                <a:solidFill>
                  <a:srgbClr val="64748B"/>
                </a:solidFill>
                <a:latin typeface="Segoe UI"/>
              </a:defRPr>
            </a:pPr>
            <a:r>
              <a:t>Passerelle Flutter / SQLite</a:t>
            </a:r>
          </a:p>
          <a:p>
            <a:pPr>
              <a:spcBef>
                <a:spcPts val="800"/>
              </a:spcBef>
              <a:defRPr sz="1150">
                <a:solidFill>
                  <a:srgbClr val="0F172A"/>
                </a:solidFill>
                <a:latin typeface="Segoe UI"/>
              </a:defRPr>
            </a:pPr>
            <a:r>
              <a:t>• Liaison BLE chiffrée &amp; appairage 60s</a:t>
            </a:r>
          </a:p>
          <a:p>
            <a:pPr>
              <a:spcBef>
                <a:spcPts val="800"/>
              </a:spcBef>
              <a:defRPr sz="1150">
                <a:solidFill>
                  <a:srgbClr val="0F172A"/>
                </a:solidFill>
                <a:latin typeface="Segoe UI"/>
              </a:defRPr>
            </a:pPr>
            <a:r>
              <a:t>• Odométrie différentielle SQLite</a:t>
            </a:r>
          </a:p>
          <a:p>
            <a:pPr>
              <a:spcBef>
                <a:spcPts val="800"/>
              </a:spcBef>
              <a:defRPr sz="1150">
                <a:solidFill>
                  <a:srgbClr val="0F172A"/>
                </a:solidFill>
                <a:latin typeface="Segoe UI"/>
              </a:defRPr>
            </a:pPr>
            <a:r>
              <a:t>• Auth OAuth2 avec PKCE RFC 7636</a:t>
            </a:r>
          </a:p>
          <a:p>
            <a:pPr>
              <a:spcBef>
                <a:spcPts val="800"/>
              </a:spcBef>
              <a:defRPr sz="1150">
                <a:solidFill>
                  <a:srgbClr val="0F172A"/>
                </a:solidFill>
                <a:latin typeface="Segoe UI"/>
              </a:defRPr>
            </a:pPr>
            <a:r>
              <a:t>• Passerelle MQTT WebSockets SigV4</a:t>
            </a:r>
          </a:p>
        </p:txBody>
      </p:sp>
      <p:sp>
        <p:nvSpPr>
          <p:cNvPr id="7" name="Rounded Rectangle 6"/>
          <p:cNvSpPr/>
          <p:nvPr/>
        </p:nvSpPr>
        <p:spPr>
          <a:xfrm>
            <a:off x="6126480" y="1463040"/>
            <a:ext cx="2542032" cy="48463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defRPr sz="1400" b="1">
                <a:solidFill>
                  <a:srgbClr val="0D9488"/>
                </a:solidFill>
                <a:latin typeface="Segoe UI"/>
              </a:defRPr>
            </a:pPr>
            <a:r>
              <a:t>3. CLOUD</a:t>
            </a:r>
          </a:p>
          <a:p>
            <a:pPr>
              <a:spcAft>
                <a:spcPts val="1600"/>
              </a:spcAft>
              <a:defRPr sz="1000">
                <a:solidFill>
                  <a:srgbClr val="64748B"/>
                </a:solidFill>
                <a:latin typeface="Segoe UI"/>
              </a:defRPr>
            </a:pPr>
            <a:r>
              <a:t>FastAPI &amp; AWS IoT</a:t>
            </a:r>
          </a:p>
          <a:p>
            <a:pPr>
              <a:spcBef>
                <a:spcPts val="800"/>
              </a:spcBef>
              <a:defRPr sz="1150">
                <a:solidFill>
                  <a:srgbClr val="0F172A"/>
                </a:solidFill>
                <a:latin typeface="Segoe UI"/>
              </a:defRPr>
            </a:pPr>
            <a:r>
              <a:t>• Broker AWS IoT Core (QoS 1)</a:t>
            </a:r>
          </a:p>
          <a:p>
            <a:pPr>
              <a:spcBef>
                <a:spcPts val="800"/>
              </a:spcBef>
              <a:defRPr sz="1150">
                <a:solidFill>
                  <a:srgbClr val="0F172A"/>
                </a:solidFill>
                <a:latin typeface="Segoe UI"/>
              </a:defRPr>
            </a:pPr>
            <a:r>
              <a:t>• STS Token Broker : clés éphémères (15 min)</a:t>
            </a:r>
          </a:p>
          <a:p>
            <a:pPr>
              <a:spcBef>
                <a:spcPts val="800"/>
              </a:spcBef>
              <a:defRPr sz="1150">
                <a:solidFill>
                  <a:srgbClr val="0F172A"/>
                </a:solidFill>
                <a:latin typeface="Segoe UI"/>
              </a:defRPr>
            </a:pPr>
            <a:r>
              <a:t>• Amazon DynamoDB &amp; PostgreSQL 16</a:t>
            </a:r>
          </a:p>
          <a:p>
            <a:pPr>
              <a:spcBef>
                <a:spcPts val="800"/>
              </a:spcBef>
              <a:defRPr sz="1150">
                <a:solidFill>
                  <a:srgbClr val="0F172A"/>
                </a:solidFill>
                <a:latin typeface="Segoe UI"/>
              </a:defRPr>
            </a:pPr>
            <a:r>
              <a:t>• Pipeline d'entraînement MLOps</a:t>
            </a:r>
          </a:p>
        </p:txBody>
      </p:sp>
      <p:sp>
        <p:nvSpPr>
          <p:cNvPr id="8" name="Rounded Rectangle 7"/>
          <p:cNvSpPr/>
          <p:nvPr/>
        </p:nvSpPr>
        <p:spPr>
          <a:xfrm>
            <a:off x="8823960" y="1463040"/>
            <a:ext cx="2542032" cy="48463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defRPr sz="1400" b="1">
                <a:solidFill>
                  <a:srgbClr val="D97706"/>
                </a:solidFill>
                <a:latin typeface="Segoe UI"/>
              </a:defRPr>
            </a:pPr>
            <a:r>
              <a:t>4. DASHBOARD</a:t>
            </a:r>
          </a:p>
          <a:p>
            <a:pPr>
              <a:spcAft>
                <a:spcPts val="1600"/>
              </a:spcAft>
              <a:defRPr sz="1000">
                <a:solidFill>
                  <a:srgbClr val="64748B"/>
                </a:solidFill>
                <a:latin typeface="Segoe UI"/>
              </a:defRPr>
            </a:pPr>
            <a:r>
              <a:t>Web Angular 22</a:t>
            </a:r>
          </a:p>
          <a:p>
            <a:pPr>
              <a:spcBef>
                <a:spcPts val="800"/>
              </a:spcBef>
              <a:defRPr sz="1150">
                <a:solidFill>
                  <a:srgbClr val="0F172A"/>
                </a:solidFill>
                <a:latin typeface="Segoe UI"/>
              </a:defRPr>
            </a:pPr>
            <a:r>
              <a:t>• Interface réactive Angular Signals</a:t>
            </a:r>
          </a:p>
          <a:p>
            <a:pPr>
              <a:spcBef>
                <a:spcPts val="800"/>
              </a:spcBef>
              <a:defRPr sz="1150">
                <a:solidFill>
                  <a:srgbClr val="0F172A"/>
                </a:solidFill>
                <a:latin typeface="Segoe UI"/>
              </a:defRPr>
            </a:pPr>
            <a:r>
              <a:t>• Visualisation des pas et alertes</a:t>
            </a:r>
          </a:p>
          <a:p>
            <a:pPr>
              <a:spcBef>
                <a:spcPts val="800"/>
              </a:spcBef>
              <a:defRPr sz="1150">
                <a:solidFill>
                  <a:srgbClr val="0F172A"/>
                </a:solidFill>
                <a:latin typeface="Segoe UI"/>
              </a:defRPr>
            </a:pPr>
            <a:r>
              <a:t>• Mode Studio : capture de datasets</a:t>
            </a:r>
          </a:p>
          <a:p>
            <a:pPr>
              <a:spcBef>
                <a:spcPts val="800"/>
              </a:spcBef>
              <a:defRPr sz="1150">
                <a:solidFill>
                  <a:srgbClr val="0F172A"/>
                </a:solidFill>
                <a:latin typeface="Segoe UI"/>
              </a:defRPr>
            </a:pPr>
            <a:r>
              <a:t>• Réglage distant des seuils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a:spAutoFit/>
          </a:bodyPr>
          <a:lstStyle/>
          <a:p>
            <a:pPr>
              <a:defRPr sz="1100" b="1">
                <a:solidFill>
                  <a:srgbClr val="0D9488"/>
                </a:solidFill>
                <a:latin typeface="Segoe UI"/>
              </a:defRPr>
            </a:pPr>
            <a:r>
              <a:t>SYSTÈME EMBARQUÉ</a:t>
            </a:r>
          </a:p>
        </p:txBody>
      </p:sp>
      <p:sp>
        <p:nvSpPr>
          <p:cNvPr id="4" name="TextBox 3"/>
          <p:cNvSpPr txBox="1"/>
          <p:nvPr/>
        </p:nvSpPr>
        <p:spPr>
          <a:xfrm>
            <a:off x="731520" y="731520"/>
            <a:ext cx="10698480" cy="640080"/>
          </a:xfrm>
          <a:prstGeom prst="rect">
            <a:avLst/>
          </a:prstGeom>
          <a:noFill/>
        </p:spPr>
        <p:txBody>
          <a:bodyPr wrap="square">
            <a:spAutoFit/>
          </a:bodyPr>
          <a:lstStyle/>
          <a:p>
            <a:pPr>
              <a:defRPr sz="2500" b="1">
                <a:solidFill>
                  <a:srgbClr val="0F172A"/>
                </a:solidFill>
                <a:latin typeface="Segoe UI"/>
              </a:defRPr>
            </a:pPr>
            <a:r>
              <a:t>Cœur IoT : Chaussure Instrumentée &amp; ESP32-S3</a:t>
            </a:r>
          </a:p>
        </p:txBody>
      </p:sp>
      <p:sp>
        <p:nvSpPr>
          <p:cNvPr id="5" name="Rounded Rectangle 4"/>
          <p:cNvSpPr/>
          <p:nvPr/>
        </p:nvSpPr>
        <p:spPr>
          <a:xfrm>
            <a:off x="731520" y="1463040"/>
            <a:ext cx="3401568" cy="48463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400"/>
              </a:spcAft>
              <a:defRPr sz="1350" b="1">
                <a:solidFill>
                  <a:srgbClr val="0D9488"/>
                </a:solidFill>
                <a:latin typeface="Segoe UI"/>
              </a:defRPr>
            </a:pPr>
            <a:r>
              <a:t>ARCHITECTURE MATÉRIELLE</a:t>
            </a:r>
          </a:p>
          <a:p>
            <a:pPr>
              <a:spcBef>
                <a:spcPts val="800"/>
              </a:spcBef>
              <a:defRPr sz="1150" b="1">
                <a:solidFill>
                  <a:srgbClr val="0F172A"/>
                </a:solidFill>
                <a:latin typeface="Segoe UI"/>
              </a:defRPr>
            </a:pPr>
            <a:r>
              <a:t>▸ ESP32-S3 (Xtensa 240 MHz)</a:t>
            </a:r>
          </a:p>
          <a:p>
            <a:pPr>
              <a:spcBef>
                <a:spcPts val="200"/>
              </a:spcBef>
              <a:defRPr sz="1050">
                <a:solidFill>
                  <a:srgbClr val="64748B"/>
                </a:solidFill>
                <a:latin typeface="Segoe UI"/>
              </a:defRPr>
            </a:pPr>
            <a:r>
              <a:t>Dual-core, 16 MB Flash, 8 MB PSRAM.</a:t>
            </a:r>
          </a:p>
          <a:p>
            <a:pPr>
              <a:spcBef>
                <a:spcPts val="800"/>
              </a:spcBef>
              <a:defRPr sz="1150" b="1">
                <a:solidFill>
                  <a:srgbClr val="0F172A"/>
                </a:solidFill>
                <a:latin typeface="Segoe UI"/>
              </a:defRPr>
            </a:pPr>
            <a:r>
              <a:t>▸ IMU 6-axes MPU-6050</a:t>
            </a:r>
          </a:p>
          <a:p>
            <a:pPr>
              <a:spcBef>
                <a:spcPts val="200"/>
              </a:spcBef>
              <a:defRPr sz="1050">
                <a:solidFill>
                  <a:srgbClr val="64748B"/>
                </a:solidFill>
                <a:latin typeface="Segoe UI"/>
              </a:defRPr>
            </a:pPr>
            <a:r>
              <a:t>I2C Fast-Mode (400 kHz) : accélération et gyro 3D.</a:t>
            </a:r>
          </a:p>
          <a:p>
            <a:pPr>
              <a:spcBef>
                <a:spcPts val="800"/>
              </a:spcBef>
              <a:defRPr sz="1150" b="1">
                <a:solidFill>
                  <a:srgbClr val="0F172A"/>
                </a:solidFill>
                <a:latin typeface="Segoe UI"/>
              </a:defRPr>
            </a:pPr>
            <a:r>
              <a:t>▸ Actuateur Haptique</a:t>
            </a:r>
          </a:p>
          <a:p>
            <a:pPr>
              <a:spcBef>
                <a:spcPts val="200"/>
              </a:spcBef>
              <a:defRPr sz="1050">
                <a:solidFill>
                  <a:srgbClr val="64748B"/>
                </a:solidFill>
                <a:latin typeface="Segoe UI"/>
              </a:defRPr>
            </a:pPr>
            <a:r>
              <a:t>LEDC PWM 10 kHz (MOSFET AO3400 + diode de roue libre).</a:t>
            </a:r>
          </a:p>
          <a:p>
            <a:pPr>
              <a:spcBef>
                <a:spcPts val="800"/>
              </a:spcBef>
              <a:defRPr sz="1150" b="1">
                <a:solidFill>
                  <a:srgbClr val="0F172A"/>
                </a:solidFill>
                <a:latin typeface="Segoe UI"/>
              </a:defRPr>
            </a:pPr>
            <a:r>
              <a:t>▸ Interfaces</a:t>
            </a:r>
          </a:p>
          <a:p>
            <a:pPr>
              <a:spcBef>
                <a:spcPts val="200"/>
              </a:spcBef>
              <a:defRPr sz="1050">
                <a:solidFill>
                  <a:srgbClr val="64748B"/>
                </a:solidFill>
                <a:latin typeface="Segoe UI"/>
              </a:defRPr>
            </a:pPr>
            <a:r>
              <a:t>Bouton d'appairage GPIO 14 &amp; LED de statut d'état.</a:t>
            </a:r>
          </a:p>
        </p:txBody>
      </p:sp>
      <p:sp>
        <p:nvSpPr>
          <p:cNvPr id="6" name="Rounded Rectangle 5"/>
          <p:cNvSpPr/>
          <p:nvPr/>
        </p:nvSpPr>
        <p:spPr>
          <a:xfrm>
            <a:off x="4389120" y="1463040"/>
            <a:ext cx="3401568" cy="48463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400"/>
              </a:spcAft>
              <a:defRPr sz="1350" b="1">
                <a:solidFill>
                  <a:srgbClr val="2563EB"/>
                </a:solidFill>
                <a:latin typeface="Segoe UI"/>
              </a:defRPr>
            </a:pPr>
            <a:r>
              <a:t>RÉFÉRENTIEL BIOMÉCANIQUE ISB</a:t>
            </a:r>
          </a:p>
          <a:p>
            <a:pPr>
              <a:spcBef>
                <a:spcPts val="800"/>
              </a:spcBef>
              <a:defRPr sz="1150" b="1">
                <a:solidFill>
                  <a:srgbClr val="0F172A"/>
                </a:solidFill>
                <a:latin typeface="Segoe UI"/>
              </a:defRPr>
            </a:pPr>
            <a:r>
              <a:t>▸ Norme ISB (Wu &amp; Cavanagh)</a:t>
            </a:r>
          </a:p>
          <a:p>
            <a:pPr>
              <a:spcBef>
                <a:spcPts val="200"/>
              </a:spcBef>
              <a:defRPr sz="1050">
                <a:solidFill>
                  <a:srgbClr val="64748B"/>
                </a:solidFill>
                <a:latin typeface="Segoe UI"/>
              </a:defRPr>
            </a:pPr>
            <a:r>
              <a:t>Repère aligné sur l'anatomie du pied humain.</a:t>
            </a:r>
          </a:p>
          <a:p>
            <a:pPr>
              <a:spcBef>
                <a:spcPts val="800"/>
              </a:spcBef>
              <a:defRPr sz="1150" b="1">
                <a:solidFill>
                  <a:srgbClr val="0F172A"/>
                </a:solidFill>
                <a:latin typeface="Segoe UI"/>
              </a:defRPr>
            </a:pPr>
            <a:r>
              <a:t>▸ Axe Z (Vertical)</a:t>
            </a:r>
          </a:p>
          <a:p>
            <a:pPr>
              <a:spcBef>
                <a:spcPts val="200"/>
              </a:spcBef>
              <a:defRPr sz="1050">
                <a:solidFill>
                  <a:srgbClr val="64748B"/>
                </a:solidFill>
                <a:latin typeface="Segoe UI"/>
              </a:defRPr>
            </a:pPr>
            <a:r>
              <a:t>+1.0 g statique au repos sur sol plat.</a:t>
            </a:r>
          </a:p>
          <a:p>
            <a:pPr>
              <a:spcBef>
                <a:spcPts val="800"/>
              </a:spcBef>
              <a:defRPr sz="1150" b="1">
                <a:solidFill>
                  <a:srgbClr val="0F172A"/>
                </a:solidFill>
                <a:latin typeface="Segoe UI"/>
              </a:defRPr>
            </a:pPr>
            <a:r>
              <a:t>▸ Axe X (Antéro-postérieur)</a:t>
            </a:r>
          </a:p>
          <a:p>
            <a:pPr>
              <a:spcBef>
                <a:spcPts val="200"/>
              </a:spcBef>
              <a:defRPr sz="1050">
                <a:solidFill>
                  <a:srgbClr val="64748B"/>
                </a:solidFill>
                <a:latin typeface="Segoe UI"/>
              </a:defRPr>
            </a:pPr>
            <a:r>
              <a:t>Mesure la propulsion et la décélération de la foulée.</a:t>
            </a:r>
          </a:p>
          <a:p>
            <a:pPr>
              <a:spcBef>
                <a:spcPts val="800"/>
              </a:spcBef>
              <a:defRPr sz="1150" b="1">
                <a:solidFill>
                  <a:srgbClr val="0F172A"/>
                </a:solidFill>
                <a:latin typeface="Segoe UI"/>
              </a:defRPr>
            </a:pPr>
            <a:r>
              <a:t>▸ Axe Y (Médio-latéral)</a:t>
            </a:r>
          </a:p>
          <a:p>
            <a:pPr>
              <a:spcBef>
                <a:spcPts val="200"/>
              </a:spcBef>
              <a:defRPr sz="1050">
                <a:solidFill>
                  <a:srgbClr val="64748B"/>
                </a:solidFill>
                <a:latin typeface="Segoe UI"/>
              </a:defRPr>
            </a:pPr>
            <a:r>
              <a:t>Mesure la stabilité latérale et la pronation.</a:t>
            </a:r>
          </a:p>
        </p:txBody>
      </p:sp>
      <p:sp>
        <p:nvSpPr>
          <p:cNvPr id="7" name="Rounded Rectangle 6"/>
          <p:cNvSpPr/>
          <p:nvPr/>
        </p:nvSpPr>
        <p:spPr>
          <a:xfrm>
            <a:off x="8046720" y="1463040"/>
            <a:ext cx="3401568" cy="48463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400"/>
              </a:spcAft>
              <a:defRPr sz="1350" b="1">
                <a:solidFill>
                  <a:srgbClr val="D97706"/>
                </a:solidFill>
                <a:latin typeface="Segoe UI"/>
              </a:defRPr>
            </a:pPr>
            <a:r>
              <a:t>SÉCURITÉ &amp; MAINTENANCE OTA</a:t>
            </a:r>
          </a:p>
          <a:p>
            <a:pPr>
              <a:spcBef>
                <a:spcPts val="800"/>
              </a:spcBef>
              <a:defRPr sz="1150" b="1">
                <a:solidFill>
                  <a:srgbClr val="0F172A"/>
                </a:solidFill>
                <a:latin typeface="Segoe UI"/>
              </a:defRPr>
            </a:pPr>
            <a:r>
              <a:t>▸ Chiffrement BLE LESC</a:t>
            </a:r>
          </a:p>
          <a:p>
            <a:pPr>
              <a:spcBef>
                <a:spcPts val="200"/>
              </a:spcBef>
              <a:defRPr sz="1050">
                <a:solidFill>
                  <a:srgbClr val="64748B"/>
                </a:solidFill>
                <a:latin typeface="Segoe UI"/>
              </a:defRPr>
            </a:pPr>
            <a:r>
              <a:t>Appairage sécurisé avec fenêtre physique de 60s.</a:t>
            </a:r>
          </a:p>
          <a:p>
            <a:pPr>
              <a:spcBef>
                <a:spcPts val="800"/>
              </a:spcBef>
              <a:defRPr sz="1150" b="1">
                <a:solidFill>
                  <a:srgbClr val="0F172A"/>
                </a:solidFill>
                <a:latin typeface="Segoe UI"/>
              </a:defRPr>
            </a:pPr>
            <a:r>
              <a:t>▸ Dual-Partition Flash A/B</a:t>
            </a:r>
          </a:p>
          <a:p>
            <a:pPr>
              <a:spcBef>
                <a:spcPts val="200"/>
              </a:spcBef>
              <a:defRPr sz="1050">
                <a:solidFill>
                  <a:srgbClr val="64748B"/>
                </a:solidFill>
                <a:latin typeface="Segoe UI"/>
              </a:defRPr>
            </a:pPr>
            <a:r>
              <a:t>Mise à jour sans fil avec validation SHA-256 (32 octets).</a:t>
            </a:r>
          </a:p>
          <a:p>
            <a:pPr>
              <a:spcBef>
                <a:spcPts val="800"/>
              </a:spcBef>
              <a:defRPr sz="1150" b="1">
                <a:solidFill>
                  <a:srgbClr val="0F172A"/>
                </a:solidFill>
                <a:latin typeface="Segoe UI"/>
              </a:defRPr>
            </a:pPr>
            <a:r>
              <a:t>▸ Rollback Automatique</a:t>
            </a:r>
          </a:p>
          <a:p>
            <a:pPr>
              <a:spcBef>
                <a:spcPts val="200"/>
              </a:spcBef>
              <a:defRPr sz="1050">
                <a:solidFill>
                  <a:srgbClr val="64748B"/>
                </a:solidFill>
                <a:latin typeface="Segoe UI"/>
              </a:defRPr>
            </a:pPr>
            <a:r>
              <a:t>Probation de 15s : retour instantané à l'ancienne version si l'IMU ne répond pas.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a:spAutoFit/>
          </a:bodyPr>
          <a:lstStyle/>
          <a:p>
            <a:pPr>
              <a:defRPr sz="1100" b="1">
                <a:solidFill>
                  <a:srgbClr val="0D9488"/>
                </a:solidFill>
                <a:latin typeface="Segoe UI"/>
              </a:defRPr>
            </a:pPr>
            <a:r>
              <a:t>INTELLIGENCE ARTIFICIELLE EMBARQUÉE</a:t>
            </a:r>
          </a:p>
        </p:txBody>
      </p:sp>
      <p:sp>
        <p:nvSpPr>
          <p:cNvPr id="4" name="TextBox 3"/>
          <p:cNvSpPr txBox="1"/>
          <p:nvPr/>
        </p:nvSpPr>
        <p:spPr>
          <a:xfrm>
            <a:off x="731520" y="731520"/>
            <a:ext cx="10698480" cy="640080"/>
          </a:xfrm>
          <a:prstGeom prst="rect">
            <a:avLst/>
          </a:prstGeom>
          <a:noFill/>
        </p:spPr>
        <p:txBody>
          <a:bodyPr wrap="square">
            <a:spAutoFit/>
          </a:bodyPr>
          <a:lstStyle/>
          <a:p>
            <a:pPr>
              <a:defRPr sz="2500" b="1">
                <a:solidFill>
                  <a:srgbClr val="0F172A"/>
                </a:solidFill>
                <a:latin typeface="Segoe UI"/>
              </a:defRPr>
            </a:pPr>
            <a:r>
              <a:t>Edge Machine Learning : Classification &amp; Sécurité</a:t>
            </a:r>
          </a:p>
        </p:txBody>
      </p:sp>
      <p:sp>
        <p:nvSpPr>
          <p:cNvPr id="5" name="Rounded Rectangle 4"/>
          <p:cNvSpPr/>
          <p:nvPr/>
        </p:nvSpPr>
        <p:spPr>
          <a:xfrm>
            <a:off x="731520" y="1463040"/>
            <a:ext cx="3401568" cy="48463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400"/>
              </a:spcAft>
              <a:defRPr sz="1350" b="1">
                <a:solidFill>
                  <a:srgbClr val="0D9488"/>
                </a:solidFill>
                <a:latin typeface="Segoe UI"/>
              </a:defRPr>
            </a:pPr>
            <a:r>
              <a:t>POURQUOI L'EDGE AI ?</a:t>
            </a:r>
          </a:p>
          <a:p>
            <a:pPr>
              <a:spcBef>
                <a:spcPts val="800"/>
              </a:spcBef>
              <a:defRPr sz="1150" b="1">
                <a:solidFill>
                  <a:srgbClr val="0F172A"/>
                </a:solidFill>
                <a:latin typeface="Segoe UI"/>
              </a:defRPr>
            </a:pPr>
            <a:r>
              <a:t>▸ Zéro Latence Critique</a:t>
            </a:r>
          </a:p>
          <a:p>
            <a:pPr>
              <a:spcBef>
                <a:spcPts val="200"/>
              </a:spcBef>
              <a:defRPr sz="1050">
                <a:solidFill>
                  <a:srgbClr val="64748B"/>
                </a:solidFill>
                <a:latin typeface="Segoe UI"/>
              </a:defRPr>
            </a:pPr>
            <a:r>
              <a:t>Réaction immédiate lors du choc sans délai de transmission réseau.</a:t>
            </a:r>
          </a:p>
          <a:p>
            <a:pPr>
              <a:spcBef>
                <a:spcPts val="800"/>
              </a:spcBef>
              <a:defRPr sz="1150" b="1">
                <a:solidFill>
                  <a:srgbClr val="0F172A"/>
                </a:solidFill>
                <a:latin typeface="Segoe UI"/>
              </a:defRPr>
            </a:pPr>
            <a:r>
              <a:t>▸ Autonomie Hors-Réseau</a:t>
            </a:r>
          </a:p>
          <a:p>
            <a:pPr>
              <a:spcBef>
                <a:spcPts val="200"/>
              </a:spcBef>
              <a:defRPr sz="1050">
                <a:solidFill>
                  <a:srgbClr val="64748B"/>
                </a:solidFill>
                <a:latin typeface="Segoe UI"/>
              </a:defRPr>
            </a:pPr>
            <a:r>
              <a:t>Fonctionne en forêt, en montagne ou si le téléphone est déchargé.</a:t>
            </a:r>
          </a:p>
          <a:p>
            <a:pPr>
              <a:spcBef>
                <a:spcPts val="800"/>
              </a:spcBef>
              <a:defRPr sz="1150" b="1">
                <a:solidFill>
                  <a:srgbClr val="0F172A"/>
                </a:solidFill>
                <a:latin typeface="Segoe UI"/>
              </a:defRPr>
            </a:pPr>
            <a:r>
              <a:t>▸ Confidentialité Totale</a:t>
            </a:r>
          </a:p>
          <a:p>
            <a:pPr>
              <a:spcBef>
                <a:spcPts val="200"/>
              </a:spcBef>
              <a:defRPr sz="1050">
                <a:solidFill>
                  <a:srgbClr val="64748B"/>
                </a:solidFill>
                <a:latin typeface="Segoe UI"/>
              </a:defRPr>
            </a:pPr>
            <a:r>
              <a:t>Les données cinématiques brutes restent sur la chaussure.</a:t>
            </a:r>
          </a:p>
        </p:txBody>
      </p:sp>
      <p:sp>
        <p:nvSpPr>
          <p:cNvPr id="6" name="Rounded Rectangle 5"/>
          <p:cNvSpPr/>
          <p:nvPr/>
        </p:nvSpPr>
        <p:spPr>
          <a:xfrm>
            <a:off x="4389120" y="1463040"/>
            <a:ext cx="3401568" cy="48463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400"/>
              </a:spcAft>
              <a:defRPr sz="1350" b="1">
                <a:solidFill>
                  <a:srgbClr val="2563EB"/>
                </a:solidFill>
                <a:latin typeface="Segoe UI"/>
              </a:defRPr>
            </a:pPr>
            <a:r>
              <a:t>16 INDICATEURS CANONIQUES</a:t>
            </a:r>
          </a:p>
          <a:p>
            <a:pPr>
              <a:spcBef>
                <a:spcPts val="800"/>
              </a:spcBef>
              <a:defRPr sz="1150" b="1">
                <a:solidFill>
                  <a:srgbClr val="0F172A"/>
                </a:solidFill>
                <a:latin typeface="Segoe UI"/>
              </a:defRPr>
            </a:pPr>
            <a:r>
              <a:t>▸ Invariance en Rotation</a:t>
            </a:r>
          </a:p>
          <a:p>
            <a:pPr>
              <a:spcBef>
                <a:spcPts val="200"/>
              </a:spcBef>
              <a:defRPr sz="1050">
                <a:solidFill>
                  <a:srgbClr val="64748B"/>
                </a:solidFill>
                <a:latin typeface="Segoe UI"/>
              </a:defRPr>
            </a:pPr>
            <a:r>
              <a:t>Magnitudes euclidiennes ||a|| et ||ω|| insensibles à la pose du pied.</a:t>
            </a:r>
          </a:p>
          <a:p>
            <a:pPr>
              <a:spcBef>
                <a:spcPts val="800"/>
              </a:spcBef>
              <a:defRPr sz="1150" b="1">
                <a:solidFill>
                  <a:srgbClr val="0F172A"/>
                </a:solidFill>
                <a:latin typeface="Segoe UI"/>
              </a:defRPr>
            </a:pPr>
            <a:r>
              <a:t>▸ Statistiques de Forme</a:t>
            </a:r>
          </a:p>
          <a:p>
            <a:pPr>
              <a:spcBef>
                <a:spcPts val="200"/>
              </a:spcBef>
              <a:defRPr sz="1050">
                <a:solidFill>
                  <a:srgbClr val="64748B"/>
                </a:solidFill>
                <a:latin typeface="Segoe UI"/>
              </a:defRPr>
            </a:pPr>
            <a:r>
              <a:t>Min, Max, Moyenne, Écart-type (Std), Pic-à-pic (P2P).</a:t>
            </a:r>
          </a:p>
          <a:p>
            <a:pPr>
              <a:spcBef>
                <a:spcPts val="800"/>
              </a:spcBef>
              <a:defRPr sz="1150" b="1">
                <a:solidFill>
                  <a:srgbClr val="0F172A"/>
                </a:solidFill>
                <a:latin typeface="Segoe UI"/>
              </a:defRPr>
            </a:pPr>
            <a:r>
              <a:t>▸ Dispersion &amp; Énergie</a:t>
            </a:r>
          </a:p>
          <a:p>
            <a:pPr>
              <a:spcBef>
                <a:spcPts val="200"/>
              </a:spcBef>
              <a:defRPr sz="1050">
                <a:solidFill>
                  <a:srgbClr val="64748B"/>
                </a:solidFill>
                <a:latin typeface="Segoe UI"/>
              </a:defRPr>
            </a:pPr>
            <a:r>
              <a:t>Écarts-types axiaux et puissances moyennes de mouvement.</a:t>
            </a:r>
          </a:p>
        </p:txBody>
      </p:sp>
      <p:sp>
        <p:nvSpPr>
          <p:cNvPr id="7" name="Rounded Rectangle 6"/>
          <p:cNvSpPr/>
          <p:nvPr/>
        </p:nvSpPr>
        <p:spPr>
          <a:xfrm>
            <a:off x="8046720" y="1463040"/>
            <a:ext cx="3401568" cy="48463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400"/>
              </a:spcAft>
              <a:defRPr sz="1350" b="1">
                <a:solidFill>
                  <a:srgbClr val="D97706"/>
                </a:solidFill>
                <a:latin typeface="Segoe UI"/>
              </a:defRPr>
            </a:pPr>
            <a:r>
              <a:t>CLASSIFIEUR &amp; GARDES HYBRIDES</a:t>
            </a:r>
          </a:p>
          <a:p>
            <a:pPr>
              <a:spcBef>
                <a:spcPts val="800"/>
              </a:spcBef>
              <a:defRPr sz="1150" b="1">
                <a:solidFill>
                  <a:srgbClr val="0F172A"/>
                </a:solidFill>
                <a:latin typeface="Segoe UI"/>
              </a:defRPr>
            </a:pPr>
            <a:r>
              <a:t>▸ ExtraTrees Multiclasse</a:t>
            </a:r>
          </a:p>
          <a:p>
            <a:pPr>
              <a:spcBef>
                <a:spcPts val="200"/>
              </a:spcBef>
              <a:defRPr sz="1050">
                <a:solidFill>
                  <a:srgbClr val="64748B"/>
                </a:solidFill>
                <a:latin typeface="Segoe UI"/>
              </a:defRPr>
            </a:pPr>
            <a:r>
              <a:t>Forêt d'arbres randomisés : robuste face au surapprentissage.</a:t>
            </a:r>
          </a:p>
          <a:p>
            <a:pPr>
              <a:spcBef>
                <a:spcPts val="800"/>
              </a:spcBef>
              <a:defRPr sz="1150" b="1">
                <a:solidFill>
                  <a:srgbClr val="0F172A"/>
                </a:solidFill>
                <a:latin typeface="Segoe UI"/>
              </a:defRPr>
            </a:pPr>
            <a:r>
              <a:t>▸ Détection d'Impact</a:t>
            </a:r>
          </a:p>
          <a:p>
            <a:pPr>
              <a:spcBef>
                <a:spcPts val="200"/>
              </a:spcBef>
              <a:defRPr sz="1050">
                <a:solidFill>
                  <a:srgbClr val="64748B"/>
                </a:solidFill>
                <a:latin typeface="Segoe UI"/>
              </a:defRPr>
            </a:pPr>
            <a:r>
              <a:t>Déclencheur d'accélération brutale (&gt; 16.2 m/s²).</a:t>
            </a:r>
          </a:p>
          <a:p>
            <a:pPr>
              <a:spcBef>
                <a:spcPts val="800"/>
              </a:spcBef>
              <a:defRPr sz="1150" b="1">
                <a:solidFill>
                  <a:srgbClr val="0F172A"/>
                </a:solidFill>
                <a:latin typeface="Segoe UI"/>
              </a:defRPr>
            </a:pPr>
            <a:r>
              <a:t>▸ Garde Post-Chute</a:t>
            </a:r>
          </a:p>
          <a:p>
            <a:pPr>
              <a:spcBef>
                <a:spcPts val="200"/>
              </a:spcBef>
              <a:defRPr sz="1050">
                <a:solidFill>
                  <a:srgbClr val="64748B"/>
                </a:solidFill>
                <a:latin typeface="Segoe UI"/>
              </a:defRPr>
            </a:pPr>
            <a:r>
              <a:t>Vérification d'assiette et d'immobilité (isUprightFlatFootStillness).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a:spAutoFit/>
          </a:bodyPr>
          <a:lstStyle/>
          <a:p>
            <a:pPr>
              <a:defRPr sz="1100" b="1">
                <a:solidFill>
                  <a:srgbClr val="0D9488"/>
                </a:solidFill>
                <a:latin typeface="Segoe UI"/>
              </a:defRPr>
            </a:pPr>
            <a:r>
              <a:t>CYCLE D'ENTRAÎNEMENT</a:t>
            </a:r>
          </a:p>
        </p:txBody>
      </p:sp>
      <p:sp>
        <p:nvSpPr>
          <p:cNvPr id="4" name="TextBox 3"/>
          <p:cNvSpPr txBox="1"/>
          <p:nvPr/>
        </p:nvSpPr>
        <p:spPr>
          <a:xfrm>
            <a:off x="731520" y="731520"/>
            <a:ext cx="10698480" cy="640080"/>
          </a:xfrm>
          <a:prstGeom prst="rect">
            <a:avLst/>
          </a:prstGeom>
          <a:noFill/>
        </p:spPr>
        <p:txBody>
          <a:bodyPr wrap="square">
            <a:spAutoFit/>
          </a:bodyPr>
          <a:lstStyle/>
          <a:p>
            <a:pPr>
              <a:defRPr sz="2500" b="1">
                <a:solidFill>
                  <a:srgbClr val="0F172A"/>
                </a:solidFill>
                <a:latin typeface="Segoe UI"/>
              </a:defRPr>
            </a:pPr>
            <a:r>
              <a:t>Boucle MLOps : Du Terrain au Code C Embarqué</a:t>
            </a:r>
          </a:p>
        </p:txBody>
      </p:sp>
      <p:sp>
        <p:nvSpPr>
          <p:cNvPr id="5" name="Rounded Rectangle 4"/>
          <p:cNvSpPr/>
          <p:nvPr/>
        </p:nvSpPr>
        <p:spPr>
          <a:xfrm>
            <a:off x="731520" y="1463040"/>
            <a:ext cx="10725912" cy="105156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250" b="1">
                <a:solidFill>
                  <a:srgbClr val="0D9488"/>
                </a:solidFill>
                <a:latin typeface="Segoe UI"/>
              </a:defRPr>
            </a:pPr>
            <a:r>
              <a:t>1. MODE STUDIO HAUTE FRÉQUENCE</a:t>
            </a:r>
          </a:p>
          <a:p>
            <a:pPr>
              <a:spcBef>
                <a:spcPts val="400"/>
              </a:spcBef>
              <a:defRPr sz="1100">
                <a:solidFill>
                  <a:srgbClr val="0F172A"/>
                </a:solidFill>
                <a:latin typeface="Segoe UI"/>
              </a:defRPr>
            </a:pPr>
            <a:r>
              <a:t>Acquisition brute (54 / 100 Hz) déclenchée depuis l'application. Streaming en burst BLE avec contrôle CRC32 vers DynamoDB pour constituer les jeux de données.</a:t>
            </a:r>
          </a:p>
        </p:txBody>
      </p:sp>
      <p:sp>
        <p:nvSpPr>
          <p:cNvPr id="6" name="Rounded Rectangle 5"/>
          <p:cNvSpPr/>
          <p:nvPr/>
        </p:nvSpPr>
        <p:spPr>
          <a:xfrm>
            <a:off x="731520" y="2697480"/>
            <a:ext cx="10725912" cy="10515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250" b="1">
                <a:solidFill>
                  <a:srgbClr val="2563EB"/>
                </a:solidFill>
                <a:latin typeface="Segoe UI"/>
              </a:defRPr>
            </a:pPr>
            <a:r>
              <a:t>2. STRATIFIED 5-FOLD CROSS VALIDATION</a:t>
            </a:r>
          </a:p>
          <a:p>
            <a:pPr>
              <a:spcBef>
                <a:spcPts val="400"/>
              </a:spcBef>
              <a:defRPr sz="1100">
                <a:solidFill>
                  <a:srgbClr val="0F172A"/>
                </a:solidFill>
                <a:latin typeface="Segoe UI"/>
              </a:defRPr>
            </a:pPr>
            <a:r>
              <a:t>Cache incrémental local pour minimiser les coûts AWS. 5 plis stratifiés garantissant la même proportion de chutes rares. Optimisation sur le Macro F1-score.</a:t>
            </a:r>
          </a:p>
        </p:txBody>
      </p:sp>
      <p:sp>
        <p:nvSpPr>
          <p:cNvPr id="7" name="Rounded Rectangle 6"/>
          <p:cNvSpPr/>
          <p:nvPr/>
        </p:nvSpPr>
        <p:spPr>
          <a:xfrm>
            <a:off x="731520" y="3931920"/>
            <a:ext cx="10725912" cy="105156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250" b="1">
                <a:solidFill>
                  <a:srgbClr val="0D9488"/>
                </a:solidFill>
                <a:latin typeface="Segoe UI"/>
              </a:defRPr>
            </a:pPr>
            <a:r>
              <a:t>3. TRANSPILATION C PURE SANS RUNTIME (m2cgen)</a:t>
            </a:r>
          </a:p>
          <a:p>
            <a:pPr>
              <a:spcBef>
                <a:spcPts val="400"/>
              </a:spcBef>
              <a:defRPr sz="1100">
                <a:solidFill>
                  <a:srgbClr val="0F172A"/>
                </a:solidFill>
                <a:latin typeface="Segoe UI"/>
              </a:defRPr>
            </a:pPr>
            <a:r>
              <a:t>Conversion automatique du modèle scikit-learn en C standard (activity_model_generated.h). Aucun framework lourd (zéro TFLite). Exécution en ~12 µs.</a:t>
            </a:r>
          </a:p>
        </p:txBody>
      </p:sp>
      <p:sp>
        <p:nvSpPr>
          <p:cNvPr id="8" name="Rounded Rectangle 7"/>
          <p:cNvSpPr/>
          <p:nvPr/>
        </p:nvSpPr>
        <p:spPr>
          <a:xfrm>
            <a:off x="731520" y="5166360"/>
            <a:ext cx="10725912" cy="10515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250" b="1">
                <a:solidFill>
                  <a:srgbClr val="D97706"/>
                </a:solidFill>
                <a:latin typeface="Segoe UI"/>
              </a:defRPr>
            </a:pPr>
            <a:r>
              <a:t>4. QUALITY GATE &amp; CONTRÔLE DU FIRMWARE</a:t>
            </a:r>
          </a:p>
          <a:p>
            <a:pPr>
              <a:spcBef>
                <a:spcPts val="400"/>
              </a:spcBef>
              <a:defRPr sz="1100">
                <a:solidFill>
                  <a:srgbClr val="0F172A"/>
                </a:solidFill>
                <a:latin typeface="Segoe UI"/>
              </a:defRPr>
            </a:pPr>
            <a:r>
              <a:t>Quality Gate bloquant : Macro F1-score ≥ 85% obligatoire. Compilation automatique PlatformIO (pio run) validant les quotas Flash/RAM avant tout déploiement.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a:spAutoFit/>
          </a:bodyPr>
          <a:lstStyle/>
          <a:p>
            <a:pPr>
              <a:defRPr sz="1100" b="1">
                <a:solidFill>
                  <a:srgbClr val="0D9488"/>
                </a:solidFill>
                <a:latin typeface="Segoe UI"/>
              </a:defRPr>
            </a:pPr>
            <a:r>
              <a:t>GESTION DES DONNÉES</a:t>
            </a:r>
          </a:p>
        </p:txBody>
      </p:sp>
      <p:sp>
        <p:nvSpPr>
          <p:cNvPr id="4" name="TextBox 3"/>
          <p:cNvSpPr txBox="1"/>
          <p:nvPr/>
        </p:nvSpPr>
        <p:spPr>
          <a:xfrm>
            <a:off x="731520" y="731520"/>
            <a:ext cx="10698480" cy="640080"/>
          </a:xfrm>
          <a:prstGeom prst="rect">
            <a:avLst/>
          </a:prstGeom>
          <a:noFill/>
        </p:spPr>
        <p:txBody>
          <a:bodyPr wrap="square">
            <a:spAutoFit/>
          </a:bodyPr>
          <a:lstStyle/>
          <a:p>
            <a:pPr>
              <a:defRPr sz="2500" b="1">
                <a:solidFill>
                  <a:srgbClr val="0F172A"/>
                </a:solidFill>
                <a:latin typeface="Segoe UI"/>
              </a:defRPr>
            </a:pPr>
            <a:r>
              <a:t>Réseau &amp; Podométrie Différentielle Nette</a:t>
            </a:r>
          </a:p>
        </p:txBody>
      </p:sp>
      <p:sp>
        <p:nvSpPr>
          <p:cNvPr id="5" name="Rounded Rectangle 4"/>
          <p:cNvSpPr/>
          <p:nvPr/>
        </p:nvSpPr>
        <p:spPr>
          <a:xfrm>
            <a:off x="731520" y="1463040"/>
            <a:ext cx="5212080" cy="48463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350" b="1">
                <a:solidFill>
                  <a:srgbClr val="0D9488"/>
                </a:solidFill>
                <a:latin typeface="Segoe UI"/>
              </a:defRPr>
            </a:pPr>
            <a:r>
              <a:t>PODOMÉTRIE DIFFÉRENTIELLE (SQLite)</a:t>
            </a:r>
          </a:p>
          <a:p>
            <a:pPr>
              <a:spcBef>
                <a:spcPts val="800"/>
              </a:spcBef>
              <a:defRPr sz="1150" b="1">
                <a:solidFill>
                  <a:srgbClr val="0F172A"/>
                </a:solidFill>
                <a:latin typeface="Segoe UI"/>
              </a:defRPr>
            </a:pPr>
            <a:r>
              <a:t>▸ Compteur Matériel Monotone</a:t>
            </a:r>
          </a:p>
          <a:p>
            <a:pPr>
              <a:spcBef>
                <a:spcPts val="200"/>
              </a:spcBef>
              <a:defRPr sz="1050">
                <a:solidFill>
                  <a:srgbClr val="64748B"/>
                </a:solidFill>
                <a:latin typeface="Segoe UI"/>
              </a:defRPr>
            </a:pPr>
            <a:r>
              <a:t>L'ESP32 incrémente ses pas continuellement sans notion de date ni d'heure.</a:t>
            </a:r>
          </a:p>
          <a:p>
            <a:pPr>
              <a:spcBef>
                <a:spcPts val="800"/>
              </a:spcBef>
              <a:defRPr sz="1150" b="1">
                <a:solidFill>
                  <a:srgbClr val="0F172A"/>
                </a:solidFill>
                <a:latin typeface="Segoe UI"/>
              </a:defRPr>
            </a:pPr>
            <a:r>
              <a:t>▸ Calcul du Delta Net</a:t>
            </a:r>
          </a:p>
          <a:p>
            <a:pPr>
              <a:spcBef>
                <a:spcPts val="200"/>
              </a:spcBef>
              <a:defRPr sz="1050">
                <a:solidFill>
                  <a:srgbClr val="64748B"/>
                </a:solidFill>
                <a:latin typeface="Segoe UI"/>
              </a:defRPr>
            </a:pPr>
            <a:r>
              <a:t>Le mobile compare chaque snapshot reçu : delta = current - previous.</a:t>
            </a:r>
          </a:p>
          <a:p>
            <a:pPr>
              <a:spcBef>
                <a:spcPts val="800"/>
              </a:spcBef>
              <a:defRPr sz="1150" b="1">
                <a:solidFill>
                  <a:srgbClr val="0F172A"/>
                </a:solidFill>
                <a:latin typeface="Segoe UI"/>
              </a:defRPr>
            </a:pPr>
            <a:r>
              <a:t>▸ Résilience aux Redémarrages</a:t>
            </a:r>
          </a:p>
          <a:p>
            <a:pPr>
              <a:spcBef>
                <a:spcPts val="200"/>
              </a:spcBef>
              <a:defRPr sz="1050">
                <a:solidFill>
                  <a:srgbClr val="64748B"/>
                </a:solidFill>
                <a:latin typeface="Segoe UI"/>
              </a:defRPr>
            </a:pPr>
            <a:r>
              <a:t>Si current &lt; previous (reboot chaussure), le delta s'adapte sans perte.</a:t>
            </a:r>
          </a:p>
          <a:p>
            <a:pPr>
              <a:spcBef>
                <a:spcPts val="800"/>
              </a:spcBef>
              <a:defRPr sz="1150" b="1">
                <a:solidFill>
                  <a:srgbClr val="0F172A"/>
                </a:solidFill>
                <a:latin typeface="Segoe UI"/>
              </a:defRPr>
            </a:pPr>
            <a:r>
              <a:t>▸ Bascule Propre à Minuit</a:t>
            </a:r>
          </a:p>
          <a:p>
            <a:pPr>
              <a:spcBef>
                <a:spcPts val="200"/>
              </a:spcBef>
              <a:defRPr sz="1050">
                <a:solidFill>
                  <a:srgbClr val="64748B"/>
                </a:solidFill>
                <a:latin typeface="Segoe UI"/>
              </a:defRPr>
            </a:pPr>
            <a:r>
              <a:t>Le compteur matériel continue mais le delta est isolé pour le nouveau jour.</a:t>
            </a:r>
          </a:p>
          <a:p>
            <a:pPr>
              <a:spcBef>
                <a:spcPts val="800"/>
              </a:spcBef>
              <a:defRPr sz="1150" b="1">
                <a:solidFill>
                  <a:srgbClr val="0F172A"/>
                </a:solidFill>
                <a:latin typeface="Segoe UI"/>
              </a:defRPr>
            </a:pPr>
            <a:r>
              <a:t>▸ Ventilation Horaire Réelle</a:t>
            </a:r>
          </a:p>
          <a:p>
            <a:pPr>
              <a:spcBef>
                <a:spcPts val="200"/>
              </a:spcBef>
              <a:defRPr sz="1050">
                <a:solidFill>
                  <a:srgbClr val="64748B"/>
                </a:solidFill>
                <a:latin typeface="Segoe UI"/>
              </a:defRPr>
            </a:pPr>
            <a:r>
              <a:t>Envoi par tranche horaire réelle (hourly_steps) sans heuristique artificielle.</a:t>
            </a:r>
          </a:p>
        </p:txBody>
      </p:sp>
      <p:sp>
        <p:nvSpPr>
          <p:cNvPr id="6" name="Rounded Rectangle 5"/>
          <p:cNvSpPr/>
          <p:nvPr/>
        </p:nvSpPr>
        <p:spPr>
          <a:xfrm>
            <a:off x="6245352" y="1463040"/>
            <a:ext cx="5212080" cy="48463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350" b="1">
                <a:solidFill>
                  <a:srgbClr val="2563EB"/>
                </a:solidFill>
                <a:latin typeface="Segoe UI"/>
              </a:defRPr>
            </a:pPr>
            <a:r>
              <a:t>PASSERELLE TEMPS RÉEL (AWS IoT Core)</a:t>
            </a:r>
          </a:p>
          <a:p>
            <a:pPr>
              <a:spcBef>
                <a:spcPts val="800"/>
              </a:spcBef>
              <a:defRPr sz="1150" b="1">
                <a:solidFill>
                  <a:srgbClr val="0F172A"/>
                </a:solidFill>
                <a:latin typeface="Segoe UI"/>
              </a:defRPr>
            </a:pPr>
            <a:r>
              <a:t>▸ WebSockets MQTT Persistant</a:t>
            </a:r>
          </a:p>
          <a:p>
            <a:pPr>
              <a:spcBef>
                <a:spcPts val="200"/>
              </a:spcBef>
              <a:defRPr sz="1050">
                <a:solidFill>
                  <a:srgbClr val="64748B"/>
                </a:solidFill>
                <a:latin typeface="Segoe UI"/>
              </a:defRPr>
            </a:pPr>
            <a:r>
              <a:t>Session maintenue ouverte en tâche de fond pour une latence minimale.</a:t>
            </a:r>
          </a:p>
          <a:p>
            <a:pPr>
              <a:spcBef>
                <a:spcPts val="800"/>
              </a:spcBef>
              <a:defRPr sz="1150" b="1">
                <a:solidFill>
                  <a:srgbClr val="0F172A"/>
                </a:solidFill>
                <a:latin typeface="Segoe UI"/>
              </a:defRPr>
            </a:pPr>
            <a:r>
              <a:t>▸ Authentification SigV4</a:t>
            </a:r>
          </a:p>
          <a:p>
            <a:pPr>
              <a:spcBef>
                <a:spcPts val="200"/>
              </a:spcBef>
              <a:defRPr sz="1050">
                <a:solidFill>
                  <a:srgbClr val="64748B"/>
                </a:solidFill>
                <a:latin typeface="Segoe UI"/>
              </a:defRPr>
            </a:pPr>
            <a:r>
              <a:t>Signature cryptographique de chaque trame avec clé temporaire STS.</a:t>
            </a:r>
          </a:p>
          <a:p>
            <a:pPr>
              <a:spcBef>
                <a:spcPts val="800"/>
              </a:spcBef>
              <a:defRPr sz="1150" b="1">
                <a:solidFill>
                  <a:srgbClr val="0F172A"/>
                </a:solidFill>
                <a:latin typeface="Segoe UI"/>
              </a:defRPr>
            </a:pPr>
            <a:r>
              <a:t>▸ Alerte de Chute (QoS 1)</a:t>
            </a:r>
          </a:p>
          <a:p>
            <a:pPr>
              <a:spcBef>
                <a:spcPts val="200"/>
              </a:spcBef>
              <a:defRPr sz="1050">
                <a:solidFill>
                  <a:srgbClr val="64748B"/>
                </a:solidFill>
                <a:latin typeface="Segoe UI"/>
              </a:defRPr>
            </a:pPr>
            <a:r>
              <a:t>Publication immédiate avec accusé de réception vers AWS IoT Core.</a:t>
            </a:r>
          </a:p>
          <a:p>
            <a:pPr>
              <a:spcBef>
                <a:spcPts val="800"/>
              </a:spcBef>
              <a:defRPr sz="1150" b="1">
                <a:solidFill>
                  <a:srgbClr val="0F172A"/>
                </a:solidFill>
                <a:latin typeface="Segoe UI"/>
              </a:defRPr>
            </a:pPr>
            <a:r>
              <a:t>▸ Supervision de Liaison</a:t>
            </a:r>
          </a:p>
          <a:p>
            <a:pPr>
              <a:spcBef>
                <a:spcPts val="200"/>
              </a:spcBef>
              <a:defRPr sz="1050">
                <a:solidFill>
                  <a:srgbClr val="64748B"/>
                </a:solidFill>
                <a:latin typeface="Segoe UI"/>
              </a:defRPr>
            </a:pPr>
            <a:r>
              <a:t>Notification de l'état de connexion Bluetooth et réseau.</a:t>
            </a:r>
          </a:p>
          <a:p>
            <a:pPr>
              <a:spcBef>
                <a:spcPts val="800"/>
              </a:spcBef>
              <a:defRPr sz="1150" b="1">
                <a:solidFill>
                  <a:srgbClr val="0F172A"/>
                </a:solidFill>
                <a:latin typeface="Segoe UI"/>
              </a:defRPr>
            </a:pPr>
            <a:r>
              <a:t>▸ Commandes Haptiques</a:t>
            </a:r>
          </a:p>
          <a:p>
            <a:pPr>
              <a:spcBef>
                <a:spcPts val="200"/>
              </a:spcBef>
              <a:defRPr sz="1050">
                <a:solidFill>
                  <a:srgbClr val="64748B"/>
                </a:solidFill>
                <a:latin typeface="Segoe UI"/>
              </a:defRPr>
            </a:pPr>
            <a:r>
              <a:t>Déclenchement distant d'une vibration via topic commands/haptic.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a:spAutoFit/>
          </a:bodyPr>
          <a:lstStyle/>
          <a:p>
            <a:pPr>
              <a:defRPr sz="1100" b="1">
                <a:solidFill>
                  <a:srgbClr val="0D9488"/>
                </a:solidFill>
                <a:latin typeface="Segoe UI"/>
              </a:defRPr>
            </a:pPr>
            <a:r>
              <a:t>VALIDATION &amp; CONTRÔLE</a:t>
            </a:r>
          </a:p>
        </p:txBody>
      </p:sp>
      <p:sp>
        <p:nvSpPr>
          <p:cNvPr id="4" name="TextBox 3"/>
          <p:cNvSpPr txBox="1"/>
          <p:nvPr/>
        </p:nvSpPr>
        <p:spPr>
          <a:xfrm>
            <a:off x="731520" y="731520"/>
            <a:ext cx="10698480" cy="640080"/>
          </a:xfrm>
          <a:prstGeom prst="rect">
            <a:avLst/>
          </a:prstGeom>
          <a:noFill/>
        </p:spPr>
        <p:txBody>
          <a:bodyPr wrap="square">
            <a:spAutoFit/>
          </a:bodyPr>
          <a:lstStyle/>
          <a:p>
            <a:pPr>
              <a:defRPr sz="2500" b="1">
                <a:solidFill>
                  <a:srgbClr val="0F172A"/>
                </a:solidFill>
                <a:latin typeface="Segoe UI"/>
              </a:defRPr>
            </a:pPr>
            <a:r>
              <a:t>Performances Mesurées &amp; Personnalisation</a:t>
            </a:r>
          </a:p>
        </p:txBody>
      </p:sp>
      <p:sp>
        <p:nvSpPr>
          <p:cNvPr id="5" name="Rounded Rectangle 4"/>
          <p:cNvSpPr/>
          <p:nvPr/>
        </p:nvSpPr>
        <p:spPr>
          <a:xfrm>
            <a:off x="731520" y="1463040"/>
            <a:ext cx="2542032" cy="137160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2800" b="1">
                <a:solidFill>
                  <a:srgbClr val="0D9488"/>
                </a:solidFill>
                <a:latin typeface="Segoe UI"/>
              </a:defRPr>
            </a:pPr>
            <a:r>
              <a:t>~12 µs</a:t>
            </a:r>
          </a:p>
          <a:p>
            <a:pPr algn="ctr">
              <a:spcBef>
                <a:spcPts val="200"/>
              </a:spcBef>
              <a:defRPr sz="1000" b="1">
                <a:solidFill>
                  <a:srgbClr val="0F172A"/>
                </a:solidFill>
                <a:latin typeface="Segoe UI"/>
              </a:defRPr>
            </a:pPr>
            <a:r>
              <a:t>TEMPS D'INFÉRENCE</a:t>
            </a:r>
          </a:p>
          <a:p>
            <a:pPr algn="ctr">
              <a:defRPr sz="900">
                <a:solidFill>
                  <a:srgbClr val="64748B"/>
                </a:solidFill>
                <a:latin typeface="Segoe UI"/>
              </a:defRPr>
            </a:pPr>
            <a:r>
              <a:t>Évaluation C sur ESP32 (240 MHz)</a:t>
            </a:r>
          </a:p>
        </p:txBody>
      </p:sp>
      <p:sp>
        <p:nvSpPr>
          <p:cNvPr id="6" name="Rounded Rectangle 5"/>
          <p:cNvSpPr/>
          <p:nvPr/>
        </p:nvSpPr>
        <p:spPr>
          <a:xfrm>
            <a:off x="3429000" y="1463040"/>
            <a:ext cx="2542032" cy="13716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2800" b="1">
                <a:solidFill>
                  <a:srgbClr val="2563EB"/>
                </a:solidFill>
                <a:latin typeface="Segoe UI"/>
              </a:defRPr>
            </a:pPr>
            <a:r>
              <a:t>&lt; 35 ms</a:t>
            </a:r>
          </a:p>
          <a:p>
            <a:pPr algn="ctr">
              <a:spcBef>
                <a:spcPts val="200"/>
              </a:spcBef>
              <a:defRPr sz="1000" b="1">
                <a:solidFill>
                  <a:srgbClr val="0F172A"/>
                </a:solidFill>
                <a:latin typeface="Segoe UI"/>
              </a:defRPr>
            </a:pPr>
            <a:r>
              <a:t>RÉACTION HAPTIQUE</a:t>
            </a:r>
          </a:p>
          <a:p>
            <a:pPr algn="ctr">
              <a:defRPr sz="900">
                <a:solidFill>
                  <a:srgbClr val="64748B"/>
                </a:solidFill>
                <a:latin typeface="Segoe UI"/>
              </a:defRPr>
            </a:pPr>
            <a:r>
              <a:t>Délai impact ➔ vibration locale</a:t>
            </a:r>
          </a:p>
        </p:txBody>
      </p:sp>
      <p:sp>
        <p:nvSpPr>
          <p:cNvPr id="7" name="Rounded Rectangle 6"/>
          <p:cNvSpPr/>
          <p:nvPr/>
        </p:nvSpPr>
        <p:spPr>
          <a:xfrm>
            <a:off x="6126480" y="1463040"/>
            <a:ext cx="2542032" cy="137160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2800" b="1">
                <a:solidFill>
                  <a:srgbClr val="0D9488"/>
                </a:solidFill>
                <a:latin typeface="Segoe UI"/>
              </a:defRPr>
            </a:pPr>
            <a:r>
              <a:t>&gt; 88%</a:t>
            </a:r>
          </a:p>
          <a:p>
            <a:pPr algn="ctr">
              <a:spcBef>
                <a:spcPts val="200"/>
              </a:spcBef>
              <a:defRPr sz="1000" b="1">
                <a:solidFill>
                  <a:srgbClr val="0F172A"/>
                </a:solidFill>
                <a:latin typeface="Segoe UI"/>
              </a:defRPr>
            </a:pPr>
            <a:r>
              <a:t>MACRO F1-SCORE</a:t>
            </a:r>
          </a:p>
          <a:p>
            <a:pPr algn="ctr">
              <a:defRPr sz="900">
                <a:solidFill>
                  <a:srgbClr val="64748B"/>
                </a:solidFill>
                <a:latin typeface="Segoe UI"/>
              </a:defRPr>
            </a:pPr>
            <a:r>
              <a:t>Séparation des allures motrices</a:t>
            </a:r>
          </a:p>
        </p:txBody>
      </p:sp>
      <p:sp>
        <p:nvSpPr>
          <p:cNvPr id="8" name="Rounded Rectangle 7"/>
          <p:cNvSpPr/>
          <p:nvPr/>
        </p:nvSpPr>
        <p:spPr>
          <a:xfrm>
            <a:off x="8823960" y="1463040"/>
            <a:ext cx="2542032" cy="137160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2800" b="1">
                <a:solidFill>
                  <a:srgbClr val="D97706"/>
                </a:solidFill>
                <a:latin typeface="Segoe UI"/>
              </a:defRPr>
            </a:pPr>
            <a:r>
              <a:t>&gt; 94%</a:t>
            </a:r>
          </a:p>
          <a:p>
            <a:pPr algn="ctr">
              <a:spcBef>
                <a:spcPts val="200"/>
              </a:spcBef>
              <a:defRPr sz="1000" b="1">
                <a:solidFill>
                  <a:srgbClr val="0F172A"/>
                </a:solidFill>
                <a:latin typeface="Segoe UI"/>
              </a:defRPr>
            </a:pPr>
            <a:r>
              <a:t>SENSIBILITÉ CHUTE</a:t>
            </a:r>
          </a:p>
          <a:p>
            <a:pPr algn="ctr">
              <a:defRPr sz="900">
                <a:solidFill>
                  <a:srgbClr val="64748B"/>
                </a:solidFill>
                <a:latin typeface="Segoe UI"/>
              </a:defRPr>
            </a:pPr>
            <a:r>
              <a:t>Détection fiable avec gardes</a:t>
            </a:r>
          </a:p>
        </p:txBody>
      </p:sp>
      <p:sp>
        <p:nvSpPr>
          <p:cNvPr id="9" name="Rounded Rectangle 8"/>
          <p:cNvSpPr/>
          <p:nvPr/>
        </p:nvSpPr>
        <p:spPr>
          <a:xfrm>
            <a:off x="731520" y="3200400"/>
            <a:ext cx="5212080" cy="31089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spcAft>
                <a:spcPts val="800"/>
              </a:spcAft>
              <a:defRPr sz="1300" b="1">
                <a:solidFill>
                  <a:srgbClr val="D97706"/>
                </a:solidFill>
                <a:latin typeface="Segoe UI"/>
              </a:defRPr>
            </a:pPr>
            <a:r>
              <a:t>PARAMÉTRAGE SUR L'APPLICATION MOBILE</a:t>
            </a:r>
          </a:p>
          <a:p>
            <a:pPr>
              <a:spcBef>
                <a:spcPts val="600"/>
              </a:spcBef>
              <a:defRPr sz="1100" b="1">
                <a:solidFill>
                  <a:srgbClr val="0F172A"/>
                </a:solidFill>
                <a:latin typeface="Segoe UI"/>
              </a:defRPr>
            </a:pPr>
            <a:r>
              <a:t>▸ Seuil d'Impact Ajustable</a:t>
            </a:r>
          </a:p>
          <a:p>
            <a:pPr>
              <a:spcBef>
                <a:spcPts val="200"/>
              </a:spcBef>
              <a:defRPr sz="1000">
                <a:solidFill>
                  <a:srgbClr val="64748B"/>
                </a:solidFill>
                <a:latin typeface="Segoe UI"/>
              </a:defRPr>
            </a:pPr>
            <a:r>
              <a:t>Sensibilité de décélération réglable selon le profil (seuil élevé pour le trail/running, fin pour seniors).</a:t>
            </a:r>
          </a:p>
          <a:p>
            <a:pPr>
              <a:spcBef>
                <a:spcPts val="600"/>
              </a:spcBef>
              <a:defRPr sz="1100" b="1">
                <a:solidFill>
                  <a:srgbClr val="0F172A"/>
                </a:solidFill>
                <a:latin typeface="Segoe UI"/>
              </a:defRPr>
            </a:pPr>
            <a:r>
              <a:t>▸ Rappel d'Inactivité Personnalisable</a:t>
            </a:r>
          </a:p>
          <a:p>
            <a:pPr>
              <a:spcBef>
                <a:spcPts val="200"/>
              </a:spcBef>
              <a:defRPr sz="1000">
                <a:solidFill>
                  <a:srgbClr val="64748B"/>
                </a:solidFill>
                <a:latin typeface="Segoe UI"/>
              </a:defRPr>
            </a:pPr>
            <a:r>
              <a:t>Intervalle de sédentarité au choix (30, 45, 60 minutes) avec vibrations plantaires.</a:t>
            </a:r>
          </a:p>
          <a:p>
            <a:pPr>
              <a:spcBef>
                <a:spcPts val="600"/>
              </a:spcBef>
              <a:defRPr sz="1100" b="1">
                <a:solidFill>
                  <a:srgbClr val="0F172A"/>
                </a:solidFill>
                <a:latin typeface="Segoe UI"/>
              </a:defRPr>
            </a:pPr>
            <a:r>
              <a:t>▸ Gestion des Destinataires</a:t>
            </a:r>
          </a:p>
          <a:p>
            <a:pPr>
              <a:spcBef>
                <a:spcPts val="200"/>
              </a:spcBef>
              <a:defRPr sz="1000">
                <a:solidFill>
                  <a:srgbClr val="64748B"/>
                </a:solidFill>
                <a:latin typeface="Segoe UI"/>
              </a:defRPr>
            </a:pPr>
            <a:r>
              <a:t>Configuration des contacts prévenus immédiatement en cas d'accident.</a:t>
            </a:r>
          </a:p>
        </p:txBody>
      </p:sp>
      <p:sp>
        <p:nvSpPr>
          <p:cNvPr id="10" name="Rounded Rectangle 9"/>
          <p:cNvSpPr/>
          <p:nvPr/>
        </p:nvSpPr>
        <p:spPr>
          <a:xfrm>
            <a:off x="6245352" y="3200400"/>
            <a:ext cx="5212080" cy="310896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spcAft>
                <a:spcPts val="800"/>
              </a:spcAft>
              <a:defRPr sz="1300" b="1">
                <a:solidFill>
                  <a:srgbClr val="0D9488"/>
                </a:solidFill>
                <a:latin typeface="Segoe UI"/>
              </a:defRPr>
            </a:pPr>
            <a:r>
              <a:t>RIGUEUR LOGICIELLE &amp; TESTS AUTOMATISÉS</a:t>
            </a:r>
          </a:p>
          <a:p>
            <a:pPr>
              <a:spcBef>
                <a:spcPts val="600"/>
              </a:spcBef>
              <a:defRPr sz="1100" b="1">
                <a:solidFill>
                  <a:srgbClr val="0F172A"/>
                </a:solidFill>
                <a:latin typeface="Segoe UI"/>
              </a:defRPr>
            </a:pPr>
            <a:r>
              <a:t>▸ Approche Contract-Driven</a:t>
            </a:r>
          </a:p>
          <a:p>
            <a:pPr>
              <a:spcBef>
                <a:spcPts val="200"/>
              </a:spcBef>
              <a:defRPr sz="1000">
                <a:solidFill>
                  <a:srgbClr val="64748B"/>
                </a:solidFill>
                <a:latin typeface="Segoe UI"/>
              </a:defRPr>
            </a:pPr>
            <a:r>
              <a:t>Tout échange (BLE, REST, MQTT) est régi par des contrats formels sous contracts/.</a:t>
            </a:r>
          </a:p>
          <a:p>
            <a:pPr>
              <a:spcBef>
                <a:spcPts val="600"/>
              </a:spcBef>
              <a:defRPr sz="1100" b="1">
                <a:solidFill>
                  <a:srgbClr val="0F172A"/>
                </a:solidFill>
                <a:latin typeface="Segoe UI"/>
              </a:defRPr>
            </a:pPr>
            <a:r>
              <a:t>▸ 324 Tests Backend FastAPI</a:t>
            </a:r>
          </a:p>
          <a:p>
            <a:pPr>
              <a:spcBef>
                <a:spcPts val="200"/>
              </a:spcBef>
              <a:defRPr sz="1000">
                <a:solidFill>
                  <a:srgbClr val="64748B"/>
                </a:solidFill>
                <a:latin typeface="Segoe UI"/>
              </a:defRPr>
            </a:pPr>
            <a:r>
              <a:t>Suite complète pytest validant l'authentification, les endpoints et la persistance.</a:t>
            </a:r>
          </a:p>
          <a:p>
            <a:pPr>
              <a:spcBef>
                <a:spcPts val="600"/>
              </a:spcBef>
              <a:defRPr sz="1100" b="1">
                <a:solidFill>
                  <a:srgbClr val="0F172A"/>
                </a:solidFill>
                <a:latin typeface="Segoe UI"/>
              </a:defRPr>
            </a:pPr>
            <a:r>
              <a:t>▸ 210 Tests Application Mobile</a:t>
            </a:r>
          </a:p>
          <a:p>
            <a:pPr>
              <a:spcBef>
                <a:spcPts val="200"/>
              </a:spcBef>
              <a:defRPr sz="1000">
                <a:solidFill>
                  <a:srgbClr val="64748B"/>
                </a:solidFill>
                <a:latin typeface="Segoe UI"/>
              </a:defRPr>
            </a:pPr>
            <a:r>
              <a:t>Tests unitaires et de widgets Flutter validant l'odométrie SQLite et la synchronisation.</a:t>
            </a:r>
          </a:p>
          <a:p>
            <a:pPr>
              <a:spcBef>
                <a:spcPts val="600"/>
              </a:spcBef>
              <a:defRPr sz="1100" b="1">
                <a:solidFill>
                  <a:srgbClr val="0F172A"/>
                </a:solidFill>
                <a:latin typeface="Segoe UI"/>
              </a:defRPr>
            </a:pPr>
            <a:r>
              <a:t>▸ Validation Mémoire Firmware</a:t>
            </a:r>
          </a:p>
          <a:p>
            <a:pPr>
              <a:spcBef>
                <a:spcPts val="200"/>
              </a:spcBef>
              <a:defRPr sz="1000">
                <a:solidFill>
                  <a:srgbClr val="64748B"/>
                </a:solidFill>
                <a:latin typeface="Segoe UI"/>
              </a:defRPr>
            </a:pPr>
            <a:r>
              <a:t>PlatformIO (pio run) valide 100% des limites de Flash et de RAM statique.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none">
            <a:spAutoFit/>
          </a:bodyPr>
          <a:lstStyle/>
          <a:p>
            <a:pPr>
              <a:defRPr sz="1200" b="1">
                <a:solidFill>
                  <a:srgbClr val="14B8A6"/>
                </a:solidFill>
                <a:latin typeface="Segoe UI"/>
              </a:defRPr>
            </a:pPr>
            <a:r>
              <a:t>SYNTHÈSE &amp; PERSPECTIVES D'AVENIR</a:t>
            </a:r>
          </a:p>
        </p:txBody>
      </p:sp>
      <p:sp>
        <p:nvSpPr>
          <p:cNvPr id="4" name="TextBox 3"/>
          <p:cNvSpPr txBox="1"/>
          <p:nvPr/>
        </p:nvSpPr>
        <p:spPr>
          <a:xfrm>
            <a:off x="731520" y="777240"/>
            <a:ext cx="10698480" cy="731520"/>
          </a:xfrm>
          <a:prstGeom prst="rect">
            <a:avLst/>
          </a:prstGeom>
          <a:noFill/>
        </p:spPr>
        <p:txBody>
          <a:bodyPr wrap="none">
            <a:spAutoFit/>
          </a:bodyPr>
          <a:lstStyle/>
          <a:p>
            <a:pPr>
              <a:defRPr sz="2500" b="1">
                <a:solidFill>
                  <a:srgbClr val="F8FAFC"/>
                </a:solidFill>
                <a:latin typeface="Segoe UI"/>
              </a:defRPr>
            </a:pPr>
            <a:r>
              <a:t>L'Alliance de l'Intelligence Artificielle et de la Sobriété IoT</a:t>
            </a:r>
          </a:p>
        </p:txBody>
      </p:sp>
      <p:sp>
        <p:nvSpPr>
          <p:cNvPr id="5" name="Rounded Rectangle 4"/>
          <p:cNvSpPr/>
          <p:nvPr/>
        </p:nvSpPr>
        <p:spPr>
          <a:xfrm>
            <a:off x="731520" y="1645920"/>
            <a:ext cx="5212080" cy="45720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400"/>
              </a:spcAft>
              <a:defRPr sz="1400" b="1">
                <a:solidFill>
                  <a:srgbClr val="14B8A6"/>
                </a:solidFill>
                <a:latin typeface="Segoe UI"/>
              </a:defRPr>
            </a:pPr>
            <a:r>
              <a:t>CE QUE NOUS AVONS DÉMONTRÉ</a:t>
            </a:r>
          </a:p>
          <a:p>
            <a:pPr>
              <a:spcBef>
                <a:spcPts val="800"/>
              </a:spcBef>
              <a:defRPr sz="1150" b="1">
                <a:solidFill>
                  <a:srgbClr val="F8FAFC"/>
                </a:solidFill>
                <a:latin typeface="Segoe UI"/>
              </a:defRPr>
            </a:pPr>
            <a:r>
              <a:t>✔ TinyML Frugal &amp; Performant</a:t>
            </a:r>
          </a:p>
          <a:p>
            <a:pPr>
              <a:spcBef>
                <a:spcPts val="200"/>
              </a:spcBef>
              <a:defRPr sz="1050">
                <a:solidFill>
                  <a:srgbClr val="94A3B8"/>
                </a:solidFill>
                <a:latin typeface="Segoe UI"/>
              </a:defRPr>
            </a:pPr>
            <a:r>
              <a:t>Un microcontrôleur low-cost peut classifier la démarche humaine en temps réel sans runtime IA lourd.</a:t>
            </a:r>
          </a:p>
          <a:p>
            <a:pPr>
              <a:spcBef>
                <a:spcPts val="800"/>
              </a:spcBef>
              <a:defRPr sz="1150" b="1">
                <a:solidFill>
                  <a:srgbClr val="F8FAFC"/>
                </a:solidFill>
                <a:latin typeface="Segoe UI"/>
              </a:defRPr>
            </a:pPr>
            <a:r>
              <a:t>✔ Chaîne IoT Sécurisée</a:t>
            </a:r>
          </a:p>
          <a:p>
            <a:pPr>
              <a:spcBef>
                <a:spcPts val="200"/>
              </a:spcBef>
              <a:defRPr sz="1050">
                <a:solidFill>
                  <a:srgbClr val="94A3B8"/>
                </a:solidFill>
                <a:latin typeface="Segoe UI"/>
              </a:defRPr>
            </a:pPr>
            <a:r>
              <a:t>Chiffrement BLE LESC, mise à jour OTA avec rollback, auth OAuth2 PKCE et jetons temporaires AWS STS.</a:t>
            </a:r>
          </a:p>
          <a:p>
            <a:pPr>
              <a:spcBef>
                <a:spcPts val="800"/>
              </a:spcBef>
              <a:defRPr sz="1150" b="1">
                <a:solidFill>
                  <a:srgbClr val="F8FAFC"/>
                </a:solidFill>
                <a:latin typeface="Segoe UI"/>
              </a:defRPr>
            </a:pPr>
            <a:r>
              <a:t>✔ Podométrie Nette &amp; Vérifiable</a:t>
            </a:r>
          </a:p>
          <a:p>
            <a:pPr>
              <a:spcBef>
                <a:spcPts val="200"/>
              </a:spcBef>
              <a:defRPr sz="1050">
                <a:solidFill>
                  <a:srgbClr val="94A3B8"/>
                </a:solidFill>
                <a:latin typeface="Segoe UI"/>
              </a:defRPr>
            </a:pPr>
            <a:r>
              <a:t>Élimination des faux pas et restitution fidèle heure par heure pour l'utilisateur.</a:t>
            </a:r>
          </a:p>
          <a:p>
            <a:pPr>
              <a:spcBef>
                <a:spcPts val="800"/>
              </a:spcBef>
              <a:defRPr sz="1150" b="1">
                <a:solidFill>
                  <a:srgbClr val="F8FAFC"/>
                </a:solidFill>
                <a:latin typeface="Segoe UI"/>
              </a:defRPr>
            </a:pPr>
            <a:r>
              <a:t>✔ Sérénité pour les Proches</a:t>
            </a:r>
          </a:p>
          <a:p>
            <a:pPr>
              <a:spcBef>
                <a:spcPts val="200"/>
              </a:spcBef>
              <a:defRPr sz="1050">
                <a:solidFill>
                  <a:srgbClr val="94A3B8"/>
                </a:solidFill>
                <a:latin typeface="Segoe UI"/>
              </a:defRPr>
            </a:pPr>
            <a:r>
              <a:t>Alerte rapide et fiable lors d'un accident sans fausses alarmes répétitives.</a:t>
            </a:r>
          </a:p>
        </p:txBody>
      </p:sp>
      <p:sp>
        <p:nvSpPr>
          <p:cNvPr id="6" name="Rounded Rectangle 5"/>
          <p:cNvSpPr/>
          <p:nvPr/>
        </p:nvSpPr>
        <p:spPr>
          <a:xfrm>
            <a:off x="6245352" y="1645920"/>
            <a:ext cx="5212080" cy="4572000"/>
          </a:xfrm>
          <a:prstGeom prst="roundRect">
            <a:avLst/>
          </a:prstGeom>
          <a:solidFill>
            <a:srgbClr val="1E293B"/>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400"/>
              </a:spcAft>
              <a:defRPr sz="1400" b="1">
                <a:solidFill>
                  <a:srgbClr val="FBBF24"/>
                </a:solidFill>
                <a:latin typeface="Segoe UI"/>
              </a:defRPr>
            </a:pPr>
            <a:r>
              <a:t>FEUILLE DE ROUTE TECHNOLOGIQUE</a:t>
            </a:r>
          </a:p>
          <a:p>
            <a:pPr>
              <a:spcBef>
                <a:spcPts val="800"/>
              </a:spcBef>
              <a:defRPr sz="1150" b="1">
                <a:solidFill>
                  <a:srgbClr val="F8FAFC"/>
                </a:solidFill>
                <a:latin typeface="Segoe UI"/>
              </a:defRPr>
            </a:pPr>
            <a:r>
              <a:t>➔ Capteurs Piézorésistifs (FSR)</a:t>
            </a:r>
          </a:p>
          <a:p>
            <a:pPr>
              <a:spcBef>
                <a:spcPts val="200"/>
              </a:spcBef>
              <a:defRPr sz="1050">
                <a:solidFill>
                  <a:srgbClr val="94A3B8"/>
                </a:solidFill>
                <a:latin typeface="Segoe UI"/>
              </a:defRPr>
            </a:pPr>
            <a:r>
              <a:t>Mesure de la répartition des pressions plantaires talon / plante.</a:t>
            </a:r>
          </a:p>
          <a:p>
            <a:pPr>
              <a:spcBef>
                <a:spcPts val="800"/>
              </a:spcBef>
              <a:defRPr sz="1150" b="1">
                <a:solidFill>
                  <a:srgbClr val="F8FAFC"/>
                </a:solidFill>
                <a:latin typeface="Segoe UI"/>
              </a:defRPr>
            </a:pPr>
            <a:r>
              <a:t>➔ Adaptation Continue On-Device</a:t>
            </a:r>
          </a:p>
          <a:p>
            <a:pPr>
              <a:spcBef>
                <a:spcPts val="200"/>
              </a:spcBef>
              <a:defRPr sz="1050">
                <a:solidFill>
                  <a:srgbClr val="94A3B8"/>
                </a:solidFill>
                <a:latin typeface="Segoe UI"/>
              </a:defRPr>
            </a:pPr>
            <a:r>
              <a:t>Ajustement fin des seuils à la foulée propre à chaque personne.</a:t>
            </a:r>
          </a:p>
          <a:p>
            <a:pPr>
              <a:spcBef>
                <a:spcPts val="800"/>
              </a:spcBef>
              <a:defRPr sz="1150" b="1">
                <a:solidFill>
                  <a:srgbClr val="F8FAFC"/>
                </a:solidFill>
                <a:latin typeface="Segoe UI"/>
              </a:defRPr>
            </a:pPr>
            <a:r>
              <a:t>➔ Connectivité Cellulaire NB-IoT</a:t>
            </a:r>
          </a:p>
          <a:p>
            <a:pPr>
              <a:spcBef>
                <a:spcPts val="200"/>
              </a:spcBef>
              <a:defRPr sz="1050">
                <a:solidFill>
                  <a:srgbClr val="94A3B8"/>
                </a:solidFill>
                <a:latin typeface="Segoe UI"/>
              </a:defRPr>
            </a:pPr>
            <a:r>
              <a:t>Option d'autonomie totale en extérieur sans smartphone à proximité.</a:t>
            </a:r>
          </a:p>
          <a:p>
            <a:pPr>
              <a:spcBef>
                <a:spcPts val="800"/>
              </a:spcBef>
              <a:defRPr sz="1150" b="1">
                <a:solidFill>
                  <a:srgbClr val="F8FAFC"/>
                </a:solidFill>
                <a:latin typeface="Segoe UI"/>
              </a:defRPr>
            </a:pPr>
            <a:r>
              <a:t>➔ Intégration en Semelle Amovible</a:t>
            </a:r>
          </a:p>
          <a:p>
            <a:pPr>
              <a:spcBef>
                <a:spcPts val="200"/>
              </a:spcBef>
              <a:defRPr sz="1050">
                <a:solidFill>
                  <a:srgbClr val="94A3B8"/>
                </a:solidFill>
                <a:latin typeface="Segoe UI"/>
              </a:defRPr>
            </a:pPr>
            <a:r>
              <a:t>Format glissable dans n'importe quelle chaussure de sport ou de ville.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